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463040"/>
            <a:ext cx="7315200" cy="365760"/>
          </a:xfrm>
          <a:prstGeom prst="rect">
            <a:avLst/>
          </a:prstGeom>
          <a:noFill/>
        </p:spPr>
        <p:txBody>
          <a:bodyPr wrap="square">
            <a:spAutoFit/>
          </a:bodyPr>
          <a:lstStyle/>
          <a:p>
            <a:pPr algn="l"/>
            <a:r>
              <a:rPr sz="1100" b="1" i="0">
                <a:solidFill>
                  <a:srgbClr val="6D28D9"/>
                </a:solidFill>
                <a:latin typeface="Calibri"/>
              </a:rPr>
              <a:t>DATA ENGINEERING TRAINING</a:t>
            </a:r>
          </a:p>
        </p:txBody>
      </p:sp>
      <p:sp>
        <p:nvSpPr>
          <p:cNvPr id="5" name="TextBox 4"/>
          <p:cNvSpPr txBox="1"/>
          <p:nvPr/>
        </p:nvSpPr>
        <p:spPr>
          <a:xfrm>
            <a:off x="594360" y="1874519"/>
            <a:ext cx="7315200" cy="1005840"/>
          </a:xfrm>
          <a:prstGeom prst="rect">
            <a:avLst/>
          </a:prstGeom>
          <a:noFill/>
        </p:spPr>
        <p:txBody>
          <a:bodyPr wrap="square">
            <a:spAutoFit/>
          </a:bodyPr>
          <a:lstStyle/>
          <a:p>
            <a:pPr algn="l"/>
            <a:r>
              <a:rPr sz="6000" b="1" i="0">
                <a:solidFill>
                  <a:srgbClr val="0F0F0F"/>
                </a:solidFill>
                <a:latin typeface="Calibri"/>
              </a:rPr>
              <a:t>Dream</a:t>
            </a:r>
          </a:p>
        </p:txBody>
      </p:sp>
      <p:sp>
        <p:nvSpPr>
          <p:cNvPr id="6" name="TextBox 5"/>
          <p:cNvSpPr txBox="1"/>
          <p:nvPr/>
        </p:nvSpPr>
        <p:spPr>
          <a:xfrm>
            <a:off x="2606040" y="1874519"/>
            <a:ext cx="7315200" cy="1005840"/>
          </a:xfrm>
          <a:prstGeom prst="rect">
            <a:avLst/>
          </a:prstGeom>
          <a:noFill/>
        </p:spPr>
        <p:txBody>
          <a:bodyPr wrap="square">
            <a:spAutoFit/>
          </a:bodyPr>
          <a:lstStyle/>
          <a:p>
            <a:pPr algn="l"/>
            <a:r>
              <a:rPr sz="6000" b="1" i="0">
                <a:solidFill>
                  <a:srgbClr val="6D28D9"/>
                </a:solidFill>
                <a:latin typeface="Calibri"/>
              </a:rPr>
              <a:t>Airlines</a:t>
            </a:r>
          </a:p>
        </p:txBody>
      </p:sp>
      <p:sp>
        <p:nvSpPr>
          <p:cNvPr id="7" name="TextBox 6"/>
          <p:cNvSpPr txBox="1"/>
          <p:nvPr/>
        </p:nvSpPr>
        <p:spPr>
          <a:xfrm>
            <a:off x="594360" y="2834640"/>
            <a:ext cx="8229600" cy="365760"/>
          </a:xfrm>
          <a:prstGeom prst="rect">
            <a:avLst/>
          </a:prstGeom>
          <a:noFill/>
        </p:spPr>
        <p:txBody>
          <a:bodyPr wrap="square">
            <a:spAutoFit/>
          </a:bodyPr>
          <a:lstStyle/>
          <a:p>
            <a:pPr algn="l"/>
            <a:r>
              <a:rPr sz="1400" b="0" i="1">
                <a:solidFill>
                  <a:srgbClr val="6B7280"/>
                </a:solidFill>
                <a:latin typeface="Calibri"/>
              </a:rPr>
              <a:t>Your first real pipeline.  Four notebooks.  One mission.</a:t>
            </a:r>
          </a:p>
        </p:txBody>
      </p:sp>
      <p:sp>
        <p:nvSpPr>
          <p:cNvPr id="8" name="Rectangle 7"/>
          <p:cNvSpPr/>
          <p:nvPr/>
        </p:nvSpPr>
        <p:spPr>
          <a:xfrm>
            <a:off x="594360" y="3429000"/>
            <a:ext cx="8961120" cy="2468880"/>
          </a:xfrm>
          <a:prstGeom prst="rect">
            <a:avLst/>
          </a:prstGeom>
          <a:solidFill>
            <a:srgbClr val="1F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3429000"/>
            <a:ext cx="54864" cy="24688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566160"/>
            <a:ext cx="8229600" cy="274320"/>
          </a:xfrm>
          <a:prstGeom prst="rect">
            <a:avLst/>
          </a:prstGeom>
          <a:noFill/>
        </p:spPr>
        <p:txBody>
          <a:bodyPr wrap="square">
            <a:spAutoFit/>
          </a:bodyPr>
          <a:lstStyle/>
          <a:p>
            <a:pPr algn="l"/>
            <a:r>
              <a:rPr sz="900" b="1" i="0">
                <a:solidFill>
                  <a:srgbClr val="8B5CF6"/>
                </a:solidFill>
                <a:latin typeface="Courier New"/>
              </a:rPr>
              <a:t>// INCOMING TRANSMISSION</a:t>
            </a:r>
          </a:p>
        </p:txBody>
      </p:sp>
      <p:sp>
        <p:nvSpPr>
          <p:cNvPr id="11" name="TextBox 10"/>
          <p:cNvSpPr txBox="1"/>
          <p:nvPr/>
        </p:nvSpPr>
        <p:spPr>
          <a:xfrm>
            <a:off x="777240" y="3886200"/>
            <a:ext cx="8595360" cy="1828800"/>
          </a:xfrm>
          <a:prstGeom prst="rect">
            <a:avLst/>
          </a:prstGeom>
          <a:noFill/>
        </p:spPr>
        <p:txBody>
          <a:bodyPr wrap="square">
            <a:spAutoFit/>
          </a:bodyPr>
          <a:lstStyle/>
          <a:p>
            <a:pPr algn="l"/>
            <a:r>
              <a:rPr sz="1000" b="0" i="0">
                <a:solidFill>
                  <a:srgbClr val="FFFFFF"/>
                </a:solidFill>
                <a:latin typeface="Calibri"/>
              </a:rPr>
              <a:t>Good morning, Agent.
Your target: DreamAirlines — a Portuguese travel agency with three offices
and data scattered across 14 source tables.  Nobody has ever joined them together.
The analytics team is flying blind.
Your mission, should you choose to accept it, is to ingest the raw data,
expose its flaws, and deliver a clean revenue pipeline the business can actually trust.
The Spark cluster is standing by.</a:t>
            </a:r>
          </a:p>
        </p:txBody>
      </p:sp>
      <p:sp>
        <p:nvSpPr>
          <p:cNvPr id="12" name="Rectangle 11"/>
          <p:cNvSpPr/>
          <p:nvPr/>
        </p:nvSpPr>
        <p:spPr>
          <a:xfrm>
            <a:off x="0" y="6446520"/>
            <a:ext cx="12188952" cy="411480"/>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6510528"/>
            <a:ext cx="9144000" cy="274320"/>
          </a:xfrm>
          <a:prstGeom prst="rect">
            <a:avLst/>
          </a:prstGeom>
          <a:noFill/>
        </p:spPr>
        <p:txBody>
          <a:bodyPr wrap="square">
            <a:spAutoFit/>
          </a:bodyPr>
          <a:lstStyle/>
          <a:p>
            <a:pPr algn="l"/>
            <a:r>
              <a:rPr sz="1000" b="0" i="0">
                <a:solidFill>
                  <a:srgbClr val="8B5CF6"/>
                </a:solidFill>
                <a:latin typeface="Calibri"/>
              </a:rPr>
              <a:t>Databricks   ·   PySpark   ·   Delta Lake   ·   MLflow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
            <a:ext cx="1828800" cy="320040"/>
          </a:xfrm>
          <a:prstGeom prst="rect">
            <a:avLst/>
          </a:prstGeom>
          <a:noFill/>
        </p:spPr>
        <p:txBody>
          <a:bodyPr wrap="square">
            <a:spAutoFit/>
          </a:bodyPr>
          <a:lstStyle/>
          <a:p>
            <a:pPr algn="l"/>
            <a:r>
              <a:rPr sz="800" b="1" i="0">
                <a:solidFill>
                  <a:srgbClr val="8B5CF6"/>
                </a:solidFill>
                <a:latin typeface="Calibri"/>
              </a:rPr>
              <a:t>THE BOILERPLATE</a:t>
            </a:r>
          </a:p>
        </p:txBody>
      </p:sp>
      <p:sp>
        <p:nvSpPr>
          <p:cNvPr id="5" name="TextBox 4"/>
          <p:cNvSpPr txBox="1"/>
          <p:nvPr/>
        </p:nvSpPr>
        <p:spPr>
          <a:xfrm>
            <a:off x="2103120" y="118872"/>
            <a:ext cx="9144000" cy="320040"/>
          </a:xfrm>
          <a:prstGeom prst="rect">
            <a:avLst/>
          </a:prstGeom>
          <a:noFill/>
        </p:spPr>
        <p:txBody>
          <a:bodyPr wrap="square">
            <a:spAutoFit/>
          </a:bodyPr>
          <a:lstStyle/>
          <a:p>
            <a:pPr algn="l"/>
            <a:r>
              <a:rPr sz="1600" b="1" i="0">
                <a:solidFill>
                  <a:srgbClr val="FFFFFF"/>
                </a:solidFill>
                <a:latin typeface="Calibri"/>
              </a:rPr>
              <a:t>How every ETL job in this repo is structured</a:t>
            </a:r>
          </a:p>
        </p:txBody>
      </p:sp>
      <p:sp>
        <p:nvSpPr>
          <p:cNvPr id="6" name="TextBox 5"/>
          <p:cNvSpPr txBox="1"/>
          <p:nvPr/>
        </p:nvSpPr>
        <p:spPr>
          <a:xfrm>
            <a:off x="365760" y="868680"/>
            <a:ext cx="5029200" cy="274320"/>
          </a:xfrm>
          <a:prstGeom prst="rect">
            <a:avLst/>
          </a:prstGeom>
          <a:noFill/>
        </p:spPr>
        <p:txBody>
          <a:bodyPr wrap="square">
            <a:spAutoFit/>
          </a:bodyPr>
          <a:lstStyle/>
          <a:p>
            <a:pPr algn="l"/>
            <a:r>
              <a:rPr sz="800" b="1" i="0">
                <a:solidFill>
                  <a:srgbClr val="6D28D9"/>
                </a:solidFill>
                <a:latin typeface="Calibri"/>
              </a:rPr>
              <a:t>REPOSITORY LAYOUT</a:t>
            </a:r>
          </a:p>
        </p:txBody>
      </p:sp>
      <p:sp>
        <p:nvSpPr>
          <p:cNvPr id="7" name="Rectangle 6"/>
          <p:cNvSpPr/>
          <p:nvPr/>
        </p:nvSpPr>
        <p:spPr>
          <a:xfrm>
            <a:off x="365760" y="1124712"/>
            <a:ext cx="1371600" cy="180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161288"/>
            <a:ext cx="5303520" cy="2331720"/>
          </a:xfrm>
          <a:prstGeom prst="rect">
            <a:avLst/>
          </a:prstGeom>
          <a:solidFill>
            <a:srgbClr val="F3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161288"/>
            <a:ext cx="54864" cy="23317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1252728"/>
            <a:ext cx="5138928" cy="2148840"/>
          </a:xfrm>
          <a:prstGeom prst="rect">
            <a:avLst/>
          </a:prstGeom>
          <a:noFill/>
        </p:spPr>
        <p:txBody>
          <a:bodyPr wrap="none">
            <a:spAutoFit/>
          </a:bodyPr>
          <a:lstStyle/>
          <a:p>
            <a:r>
              <a:rPr sz="850">
                <a:solidFill>
                  <a:srgbClr val="1F1F2E"/>
                </a:solidFill>
                <a:latin typeface="Courier New"/>
              </a:rPr>
              <a:t>pyspark_etl_boilerplate/</a:t>
            </a:r>
          </a:p>
          <a:p>
            <a:r>
              <a:rPr sz="850">
                <a:solidFill>
                  <a:srgbClr val="1F1F2E"/>
                </a:solidFill>
                <a:latin typeface="Courier New"/>
              </a:rPr>
              <a:t>├── main.py              # entry point</a:t>
            </a:r>
          </a:p>
          <a:p>
            <a:r>
              <a:rPr sz="850">
                <a:solidFill>
                  <a:srgbClr val="1F1F2E"/>
                </a:solidFill>
                <a:latin typeface="Courier New"/>
              </a:rPr>
              <a:t>├── config/</a:t>
            </a:r>
          </a:p>
          <a:p>
            <a:r>
              <a:rPr sz="850">
                <a:solidFill>
                  <a:srgbClr val="1F1F2E"/>
                </a:solidFill>
                <a:latin typeface="Courier New"/>
              </a:rPr>
              <a:t>│   ├── dev/             # per-environment</a:t>
            </a:r>
          </a:p>
          <a:p>
            <a:r>
              <a:rPr sz="850">
                <a:solidFill>
                  <a:srgbClr val="1F1F2E"/>
                </a:solidFill>
                <a:latin typeface="Courier New"/>
              </a:rPr>
              <a:t>│   ├── test/</a:t>
            </a:r>
          </a:p>
          <a:p>
            <a:r>
              <a:rPr sz="850">
                <a:solidFill>
                  <a:srgbClr val="1F1F2E"/>
                </a:solidFill>
                <a:latin typeface="Courier New"/>
              </a:rPr>
              <a:t>│   ├── qa/</a:t>
            </a:r>
          </a:p>
          <a:p>
            <a:r>
              <a:rPr sz="850">
                <a:solidFill>
                  <a:srgbClr val="1F1F2E"/>
                </a:solidFill>
                <a:latin typeface="Courier New"/>
              </a:rPr>
              <a:t>│   └── prod/</a:t>
            </a:r>
          </a:p>
          <a:p>
            <a:r>
              <a:rPr sz="850">
                <a:solidFill>
                  <a:srgbClr val="1F1F2E"/>
                </a:solidFill>
                <a:latin typeface="Courier New"/>
              </a:rPr>
              <a:t>├── etl/</a:t>
            </a:r>
          </a:p>
          <a:p>
            <a:r>
              <a:rPr sz="850">
                <a:solidFill>
                  <a:srgbClr val="1F1F2E"/>
                </a:solidFill>
                <a:latin typeface="Courier New"/>
              </a:rPr>
              <a:t>│   ├── etl_interface.py # abstract base</a:t>
            </a:r>
          </a:p>
          <a:p>
            <a:r>
              <a:rPr sz="850">
                <a:solidFill>
                  <a:srgbClr val="1F1F2E"/>
                </a:solidFill>
                <a:latin typeface="Courier New"/>
              </a:rPr>
              <a:t>│   ├── etl_config.py    # config loader</a:t>
            </a:r>
          </a:p>
          <a:p>
            <a:r>
              <a:rPr sz="850">
                <a:solidFill>
                  <a:srgbClr val="1F1F2E"/>
                </a:solidFill>
                <a:latin typeface="Courier New"/>
              </a:rPr>
              <a:t>│   └── my_etl_job.py    # sample job</a:t>
            </a:r>
          </a:p>
          <a:p>
            <a:r>
              <a:rPr sz="850">
                <a:solidFill>
                  <a:srgbClr val="1F1F2E"/>
                </a:solidFill>
                <a:latin typeface="Courier New"/>
              </a:rPr>
              <a:t>└── utils/</a:t>
            </a:r>
          </a:p>
          <a:p>
            <a:r>
              <a:rPr sz="850">
                <a:solidFill>
                  <a:srgbClr val="1F1F2E"/>
                </a:solidFill>
                <a:latin typeface="Courier New"/>
              </a:rPr>
              <a:t>    ├── config.py        # SparkSession</a:t>
            </a:r>
          </a:p>
          <a:p>
            <a:r>
              <a:rPr sz="850">
                <a:solidFill>
                  <a:srgbClr val="1F1F2E"/>
                </a:solidFill>
                <a:latin typeface="Courier New"/>
              </a:rPr>
              <a:t>    ├── toolbox.py</a:t>
            </a:r>
          </a:p>
          <a:p>
            <a:r>
              <a:rPr sz="850">
                <a:solidFill>
                  <a:srgbClr val="1F1F2E"/>
                </a:solidFill>
                <a:latin typeface="Courier New"/>
              </a:rPr>
              <a:t>    └── ...</a:t>
            </a:r>
          </a:p>
        </p:txBody>
      </p:sp>
      <p:sp>
        <p:nvSpPr>
          <p:cNvPr id="11" name="TextBox 10"/>
          <p:cNvSpPr txBox="1"/>
          <p:nvPr/>
        </p:nvSpPr>
        <p:spPr>
          <a:xfrm>
            <a:off x="365760" y="3657600"/>
            <a:ext cx="5029200" cy="274320"/>
          </a:xfrm>
          <a:prstGeom prst="rect">
            <a:avLst/>
          </a:prstGeom>
          <a:noFill/>
        </p:spPr>
        <p:txBody>
          <a:bodyPr wrap="square">
            <a:spAutoFit/>
          </a:bodyPr>
          <a:lstStyle/>
          <a:p>
            <a:pPr algn="l"/>
            <a:r>
              <a:rPr sz="800" b="1" i="0">
                <a:solidFill>
                  <a:srgbClr val="6D28D9"/>
                </a:solidFill>
                <a:latin typeface="Calibri"/>
              </a:rPr>
              <a:t>CONFIG SECTIONS</a:t>
            </a:r>
          </a:p>
        </p:txBody>
      </p:sp>
      <p:sp>
        <p:nvSpPr>
          <p:cNvPr id="12" name="Rectangle 11"/>
          <p:cNvSpPr/>
          <p:nvPr/>
        </p:nvSpPr>
        <p:spPr>
          <a:xfrm>
            <a:off x="365760" y="3913632"/>
            <a:ext cx="1371600" cy="180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3959352"/>
            <a:ext cx="1348740" cy="256032"/>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 y="3977640"/>
            <a:ext cx="1348740" cy="228600"/>
          </a:xfrm>
          <a:prstGeom prst="rect">
            <a:avLst/>
          </a:prstGeom>
          <a:noFill/>
        </p:spPr>
        <p:txBody>
          <a:bodyPr wrap="square">
            <a:spAutoFit/>
          </a:bodyPr>
          <a:lstStyle/>
          <a:p>
            <a:pPr algn="l"/>
            <a:r>
              <a:rPr sz="800" b="1" i="0">
                <a:solidFill>
                  <a:srgbClr val="3B0764"/>
                </a:solidFill>
                <a:latin typeface="Courier New"/>
              </a:rPr>
              <a:t>[SPARK_CONTEXT]</a:t>
            </a:r>
          </a:p>
        </p:txBody>
      </p:sp>
      <p:sp>
        <p:nvSpPr>
          <p:cNvPr id="15" name="Rectangle 14"/>
          <p:cNvSpPr/>
          <p:nvPr/>
        </p:nvSpPr>
        <p:spPr>
          <a:xfrm>
            <a:off x="1787652" y="3959352"/>
            <a:ext cx="571500" cy="256032"/>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42516" y="3977640"/>
            <a:ext cx="571500" cy="228600"/>
          </a:xfrm>
          <a:prstGeom prst="rect">
            <a:avLst/>
          </a:prstGeom>
          <a:noFill/>
        </p:spPr>
        <p:txBody>
          <a:bodyPr wrap="square">
            <a:spAutoFit/>
          </a:bodyPr>
          <a:lstStyle/>
          <a:p>
            <a:pPr algn="l"/>
            <a:r>
              <a:rPr sz="800" b="1" i="0">
                <a:solidFill>
                  <a:srgbClr val="3B0764"/>
                </a:solidFill>
                <a:latin typeface="Courier New"/>
              </a:rPr>
              <a:t>[COS]</a:t>
            </a:r>
          </a:p>
        </p:txBody>
      </p:sp>
      <p:sp>
        <p:nvSpPr>
          <p:cNvPr id="17" name="Rectangle 16"/>
          <p:cNvSpPr/>
          <p:nvPr/>
        </p:nvSpPr>
        <p:spPr>
          <a:xfrm>
            <a:off x="2432304" y="3959352"/>
            <a:ext cx="960120" cy="256032"/>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87168" y="3977640"/>
            <a:ext cx="960120" cy="228600"/>
          </a:xfrm>
          <a:prstGeom prst="rect">
            <a:avLst/>
          </a:prstGeom>
          <a:noFill/>
        </p:spPr>
        <p:txBody>
          <a:bodyPr wrap="square">
            <a:spAutoFit/>
          </a:bodyPr>
          <a:lstStyle/>
          <a:p>
            <a:pPr algn="l"/>
            <a:r>
              <a:rPr sz="800" b="1" i="0">
                <a:solidFill>
                  <a:srgbClr val="3B0764"/>
                </a:solidFill>
                <a:latin typeface="Courier New"/>
              </a:rPr>
              <a:t>[DATABASE]</a:t>
            </a:r>
          </a:p>
        </p:txBody>
      </p:sp>
      <p:sp>
        <p:nvSpPr>
          <p:cNvPr id="19" name="Rectangle 18"/>
          <p:cNvSpPr/>
          <p:nvPr/>
        </p:nvSpPr>
        <p:spPr>
          <a:xfrm>
            <a:off x="3465576" y="3959352"/>
            <a:ext cx="726948" cy="256032"/>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20440" y="3977640"/>
            <a:ext cx="726948" cy="228600"/>
          </a:xfrm>
          <a:prstGeom prst="rect">
            <a:avLst/>
          </a:prstGeom>
          <a:noFill/>
        </p:spPr>
        <p:txBody>
          <a:bodyPr wrap="square">
            <a:spAutoFit/>
          </a:bodyPr>
          <a:lstStyle/>
          <a:p>
            <a:pPr algn="l"/>
            <a:r>
              <a:rPr sz="800" b="1" i="0">
                <a:solidFill>
                  <a:srgbClr val="3B0764"/>
                </a:solidFill>
                <a:latin typeface="Courier New"/>
              </a:rPr>
              <a:t>[SPARK]</a:t>
            </a:r>
          </a:p>
        </p:txBody>
      </p:sp>
      <p:sp>
        <p:nvSpPr>
          <p:cNvPr id="21" name="Rectangle 20"/>
          <p:cNvSpPr/>
          <p:nvPr/>
        </p:nvSpPr>
        <p:spPr>
          <a:xfrm>
            <a:off x="4265676" y="3959352"/>
            <a:ext cx="726948" cy="256032"/>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20540" y="3977640"/>
            <a:ext cx="726948" cy="228600"/>
          </a:xfrm>
          <a:prstGeom prst="rect">
            <a:avLst/>
          </a:prstGeom>
          <a:noFill/>
        </p:spPr>
        <p:txBody>
          <a:bodyPr wrap="square">
            <a:spAutoFit/>
          </a:bodyPr>
          <a:lstStyle/>
          <a:p>
            <a:pPr algn="l"/>
            <a:r>
              <a:rPr sz="800" b="1" i="0">
                <a:solidFill>
                  <a:srgbClr val="3B0764"/>
                </a:solidFill>
                <a:latin typeface="Courier New"/>
              </a:rPr>
              <a:t>[KAFKA]</a:t>
            </a:r>
          </a:p>
        </p:txBody>
      </p:sp>
      <p:sp>
        <p:nvSpPr>
          <p:cNvPr id="23" name="TextBox 22"/>
          <p:cNvSpPr txBox="1"/>
          <p:nvPr/>
        </p:nvSpPr>
        <p:spPr>
          <a:xfrm>
            <a:off x="365760" y="4325112"/>
            <a:ext cx="5303520" cy="457200"/>
          </a:xfrm>
          <a:prstGeom prst="rect">
            <a:avLst/>
          </a:prstGeom>
          <a:noFill/>
        </p:spPr>
        <p:txBody>
          <a:bodyPr wrap="square">
            <a:spAutoFit/>
          </a:bodyPr>
          <a:lstStyle/>
          <a:p>
            <a:pPr algn="l"/>
            <a:r>
              <a:rPr sz="900" b="0" i="0">
                <a:solidFill>
                  <a:srgbClr val="6B7280"/>
                </a:solidFill>
                <a:latin typeface="Calibri"/>
              </a:rPr>
              <a:t>All Spark session properties are sourced from [SPARK_CONTEXT].
Placeholders like {bucket} are resolved from [COS] at read time.</a:t>
            </a:r>
          </a:p>
        </p:txBody>
      </p:sp>
      <p:sp>
        <p:nvSpPr>
          <p:cNvPr id="24" name="TextBox 23"/>
          <p:cNvSpPr txBox="1"/>
          <p:nvPr/>
        </p:nvSpPr>
        <p:spPr>
          <a:xfrm>
            <a:off x="6035040" y="868680"/>
            <a:ext cx="5029200" cy="274320"/>
          </a:xfrm>
          <a:prstGeom prst="rect">
            <a:avLst/>
          </a:prstGeom>
          <a:noFill/>
        </p:spPr>
        <p:txBody>
          <a:bodyPr wrap="square">
            <a:spAutoFit/>
          </a:bodyPr>
          <a:lstStyle/>
          <a:p>
            <a:pPr algn="l"/>
            <a:r>
              <a:rPr sz="800" b="1" i="0">
                <a:solidFill>
                  <a:srgbClr val="6D28D9"/>
                </a:solidFill>
                <a:latin typeface="Calibri"/>
              </a:rPr>
              <a:t>EXECUTION FLOW</a:t>
            </a:r>
          </a:p>
        </p:txBody>
      </p:sp>
      <p:sp>
        <p:nvSpPr>
          <p:cNvPr id="25" name="Rectangle 24"/>
          <p:cNvSpPr/>
          <p:nvPr/>
        </p:nvSpPr>
        <p:spPr>
          <a:xfrm>
            <a:off x="6035040" y="1124712"/>
            <a:ext cx="1371600" cy="180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35040" y="1170432"/>
            <a:ext cx="5852160" cy="228600"/>
          </a:xfrm>
          <a:prstGeom prst="rect">
            <a:avLst/>
          </a:prstGeom>
          <a:noFill/>
        </p:spPr>
        <p:txBody>
          <a:bodyPr wrap="square">
            <a:spAutoFit/>
          </a:bodyPr>
          <a:lstStyle/>
          <a:p>
            <a:pPr algn="ctr"/>
            <a:r>
              <a:rPr sz="850" b="0" i="0">
                <a:solidFill>
                  <a:srgbClr val="6B7280"/>
                </a:solidFill>
                <a:latin typeface="Courier New"/>
              </a:rPr>
              <a:t>spark-submit main.py  --className …  --confPath …</a:t>
            </a:r>
          </a:p>
        </p:txBody>
      </p:sp>
      <p:sp>
        <p:nvSpPr>
          <p:cNvPr id="27" name="Rectangle 26"/>
          <p:cNvSpPr/>
          <p:nvPr/>
        </p:nvSpPr>
        <p:spPr>
          <a:xfrm>
            <a:off x="6254496" y="1463040"/>
            <a:ext cx="1024128" cy="347472"/>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54496" y="1517904"/>
            <a:ext cx="1024128" cy="256032"/>
          </a:xfrm>
          <a:prstGeom prst="rect">
            <a:avLst/>
          </a:prstGeom>
          <a:noFill/>
        </p:spPr>
        <p:txBody>
          <a:bodyPr wrap="square">
            <a:spAutoFit/>
          </a:bodyPr>
          <a:lstStyle/>
          <a:p>
            <a:pPr algn="ctr"/>
            <a:r>
              <a:rPr sz="900" b="1" i="0">
                <a:solidFill>
                  <a:srgbClr val="FFFFFF"/>
                </a:solidFill>
                <a:latin typeface="Calibri"/>
              </a:rPr>
              <a:t>__init__</a:t>
            </a:r>
          </a:p>
        </p:txBody>
      </p:sp>
      <p:sp>
        <p:nvSpPr>
          <p:cNvPr id="29" name="TextBox 28"/>
          <p:cNvSpPr txBox="1"/>
          <p:nvPr/>
        </p:nvSpPr>
        <p:spPr>
          <a:xfrm>
            <a:off x="7306056" y="1517904"/>
            <a:ext cx="274320" cy="256032"/>
          </a:xfrm>
          <a:prstGeom prst="rect">
            <a:avLst/>
          </a:prstGeom>
          <a:noFill/>
        </p:spPr>
        <p:txBody>
          <a:bodyPr wrap="square">
            <a:spAutoFit/>
          </a:bodyPr>
          <a:lstStyle/>
          <a:p>
            <a:pPr algn="ctr"/>
            <a:r>
              <a:rPr sz="1200" b="0" i="0">
                <a:solidFill>
                  <a:srgbClr val="8B5CF6"/>
                </a:solidFill>
                <a:latin typeface="Calibri"/>
              </a:rPr>
              <a:t>→</a:t>
            </a:r>
          </a:p>
        </p:txBody>
      </p:sp>
      <p:sp>
        <p:nvSpPr>
          <p:cNvPr id="30" name="Rectangle 29"/>
          <p:cNvSpPr/>
          <p:nvPr/>
        </p:nvSpPr>
        <p:spPr>
          <a:xfrm>
            <a:off x="7717536" y="1463040"/>
            <a:ext cx="1024128" cy="347472"/>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17536" y="1517904"/>
            <a:ext cx="1024128" cy="256032"/>
          </a:xfrm>
          <a:prstGeom prst="rect">
            <a:avLst/>
          </a:prstGeom>
          <a:noFill/>
        </p:spPr>
        <p:txBody>
          <a:bodyPr wrap="square">
            <a:spAutoFit/>
          </a:bodyPr>
          <a:lstStyle/>
          <a:p>
            <a:pPr algn="ctr"/>
            <a:r>
              <a:rPr sz="900" b="1" i="0">
                <a:solidFill>
                  <a:srgbClr val="FFFFFF"/>
                </a:solidFill>
                <a:latin typeface="Calibri"/>
              </a:rPr>
              <a:t>extract()</a:t>
            </a:r>
          </a:p>
        </p:txBody>
      </p:sp>
      <p:sp>
        <p:nvSpPr>
          <p:cNvPr id="32" name="TextBox 31"/>
          <p:cNvSpPr txBox="1"/>
          <p:nvPr/>
        </p:nvSpPr>
        <p:spPr>
          <a:xfrm>
            <a:off x="8769096" y="1517904"/>
            <a:ext cx="274320" cy="256032"/>
          </a:xfrm>
          <a:prstGeom prst="rect">
            <a:avLst/>
          </a:prstGeom>
          <a:noFill/>
        </p:spPr>
        <p:txBody>
          <a:bodyPr wrap="square">
            <a:spAutoFit/>
          </a:bodyPr>
          <a:lstStyle/>
          <a:p>
            <a:pPr algn="ctr"/>
            <a:r>
              <a:rPr sz="1200" b="0" i="0">
                <a:solidFill>
                  <a:srgbClr val="8B5CF6"/>
                </a:solidFill>
                <a:latin typeface="Calibri"/>
              </a:rPr>
              <a:t>→</a:t>
            </a:r>
          </a:p>
        </p:txBody>
      </p:sp>
      <p:sp>
        <p:nvSpPr>
          <p:cNvPr id="33" name="Rectangle 32"/>
          <p:cNvSpPr/>
          <p:nvPr/>
        </p:nvSpPr>
        <p:spPr>
          <a:xfrm>
            <a:off x="9180576" y="1463040"/>
            <a:ext cx="1024128" cy="34747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80576" y="1517904"/>
            <a:ext cx="1024128" cy="256032"/>
          </a:xfrm>
          <a:prstGeom prst="rect">
            <a:avLst/>
          </a:prstGeom>
          <a:noFill/>
        </p:spPr>
        <p:txBody>
          <a:bodyPr wrap="square">
            <a:spAutoFit/>
          </a:bodyPr>
          <a:lstStyle/>
          <a:p>
            <a:pPr algn="ctr"/>
            <a:r>
              <a:rPr sz="900" b="1" i="0">
                <a:solidFill>
                  <a:srgbClr val="FFFFFF"/>
                </a:solidFill>
                <a:latin typeface="Calibri"/>
              </a:rPr>
              <a:t>transform()</a:t>
            </a:r>
          </a:p>
        </p:txBody>
      </p:sp>
      <p:sp>
        <p:nvSpPr>
          <p:cNvPr id="35" name="TextBox 34"/>
          <p:cNvSpPr txBox="1"/>
          <p:nvPr/>
        </p:nvSpPr>
        <p:spPr>
          <a:xfrm>
            <a:off x="10232136" y="1517904"/>
            <a:ext cx="274320" cy="256032"/>
          </a:xfrm>
          <a:prstGeom prst="rect">
            <a:avLst/>
          </a:prstGeom>
          <a:noFill/>
        </p:spPr>
        <p:txBody>
          <a:bodyPr wrap="square">
            <a:spAutoFit/>
          </a:bodyPr>
          <a:lstStyle/>
          <a:p>
            <a:pPr algn="ctr"/>
            <a:r>
              <a:rPr sz="1200" b="0" i="0">
                <a:solidFill>
                  <a:srgbClr val="8B5CF6"/>
                </a:solidFill>
                <a:latin typeface="Calibri"/>
              </a:rPr>
              <a:t>→</a:t>
            </a:r>
          </a:p>
        </p:txBody>
      </p:sp>
      <p:sp>
        <p:nvSpPr>
          <p:cNvPr id="36" name="Rectangle 35"/>
          <p:cNvSpPr/>
          <p:nvPr/>
        </p:nvSpPr>
        <p:spPr>
          <a:xfrm>
            <a:off x="10643616" y="1463040"/>
            <a:ext cx="1024128" cy="347472"/>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43616" y="1517904"/>
            <a:ext cx="1024128" cy="256032"/>
          </a:xfrm>
          <a:prstGeom prst="rect">
            <a:avLst/>
          </a:prstGeom>
          <a:noFill/>
        </p:spPr>
        <p:txBody>
          <a:bodyPr wrap="square">
            <a:spAutoFit/>
          </a:bodyPr>
          <a:lstStyle/>
          <a:p>
            <a:pPr algn="ctr"/>
            <a:r>
              <a:rPr sz="900" b="1" i="0">
                <a:solidFill>
                  <a:srgbClr val="FFFFFF"/>
                </a:solidFill>
                <a:latin typeface="Calibri"/>
              </a:rPr>
              <a:t>load()</a:t>
            </a:r>
          </a:p>
        </p:txBody>
      </p:sp>
      <p:sp>
        <p:nvSpPr>
          <p:cNvPr id="38" name="TextBox 37"/>
          <p:cNvSpPr txBox="1"/>
          <p:nvPr/>
        </p:nvSpPr>
        <p:spPr>
          <a:xfrm>
            <a:off x="6035040" y="1865376"/>
            <a:ext cx="5852160" cy="228600"/>
          </a:xfrm>
          <a:prstGeom prst="rect">
            <a:avLst/>
          </a:prstGeom>
          <a:noFill/>
        </p:spPr>
        <p:txBody>
          <a:bodyPr wrap="square">
            <a:spAutoFit/>
          </a:bodyPr>
          <a:lstStyle/>
          <a:p>
            <a:pPr algn="ctr"/>
            <a:r>
              <a:rPr sz="800" b="1" i="0">
                <a:solidFill>
                  <a:srgbClr val="6D28D9"/>
                </a:solidFill>
                <a:latin typeface="Calibri"/>
              </a:rPr>
              <a:t>↑  YOUR WORK LIVES HERE</a:t>
            </a:r>
          </a:p>
        </p:txBody>
      </p:sp>
      <p:sp>
        <p:nvSpPr>
          <p:cNvPr id="39" name="TextBox 38"/>
          <p:cNvSpPr txBox="1"/>
          <p:nvPr/>
        </p:nvSpPr>
        <p:spPr>
          <a:xfrm>
            <a:off x="6035040" y="2057400"/>
            <a:ext cx="5029200" cy="274320"/>
          </a:xfrm>
          <a:prstGeom prst="rect">
            <a:avLst/>
          </a:prstGeom>
          <a:noFill/>
        </p:spPr>
        <p:txBody>
          <a:bodyPr wrap="square">
            <a:spAutoFit/>
          </a:bodyPr>
          <a:lstStyle/>
          <a:p>
            <a:pPr algn="l"/>
            <a:r>
              <a:rPr sz="800" b="1" i="0">
                <a:solidFill>
                  <a:srgbClr val="6D28D9"/>
                </a:solidFill>
                <a:latin typeface="Calibri"/>
              </a:rPr>
              <a:t>EVERY JOB FOLLOWS THE SAME CONTRACT</a:t>
            </a:r>
          </a:p>
        </p:txBody>
      </p:sp>
      <p:sp>
        <p:nvSpPr>
          <p:cNvPr id="40" name="Rectangle 39"/>
          <p:cNvSpPr/>
          <p:nvPr/>
        </p:nvSpPr>
        <p:spPr>
          <a:xfrm>
            <a:off x="6035040" y="2313432"/>
            <a:ext cx="1371600" cy="180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035040" y="2350008"/>
            <a:ext cx="5852160" cy="2651760"/>
          </a:xfrm>
          <a:prstGeom prst="rect">
            <a:avLst/>
          </a:prstGeom>
          <a:solidFill>
            <a:srgbClr val="F3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035040" y="2350008"/>
            <a:ext cx="54864" cy="2651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44768" y="2441448"/>
            <a:ext cx="5687568" cy="2468880"/>
          </a:xfrm>
          <a:prstGeom prst="rect">
            <a:avLst/>
          </a:prstGeom>
          <a:noFill/>
        </p:spPr>
        <p:txBody>
          <a:bodyPr wrap="none">
            <a:spAutoFit/>
          </a:bodyPr>
          <a:lstStyle/>
          <a:p>
            <a:r>
              <a:rPr sz="900">
                <a:solidFill>
                  <a:srgbClr val="1F1F2E"/>
                </a:solidFill>
                <a:latin typeface="Courier New"/>
              </a:rPr>
              <a:t>class MyETLJob(ETLInterface):</a:t>
            </a:r>
          </a:p>
          <a:p>
            <a:r>
              <a:rPr sz="900">
                <a:solidFill>
                  <a:srgbClr val="1F1F2E"/>
                </a:solidFill>
                <a:latin typeface="Courier New"/>
              </a:rPr>
              <a:t/>
            </a:r>
          </a:p>
          <a:p>
            <a:r>
              <a:rPr sz="900">
                <a:solidFill>
                  <a:srgbClr val="1F1F2E"/>
                </a:solidFill>
                <a:latin typeface="Courier New"/>
              </a:rPr>
              <a:t>    def extract(self):</a:t>
            </a:r>
          </a:p>
          <a:p>
            <a:r>
              <a:rPr sz="900">
                <a:solidFill>
                  <a:srgbClr val="1F1F2E"/>
                </a:solidFill>
                <a:latin typeface="Courier New"/>
              </a:rPr>
              <a:t>        # read from source</a:t>
            </a:r>
          </a:p>
          <a:p>
            <a:r>
              <a:rPr sz="900">
                <a:solidFill>
                  <a:srgbClr val="1F1F2E"/>
                </a:solidFill>
                <a:latin typeface="Courier New"/>
              </a:rPr>
              <a:t/>
            </a:r>
          </a:p>
          <a:p>
            <a:r>
              <a:rPr sz="900">
                <a:solidFill>
                  <a:srgbClr val="1F1F2E"/>
                </a:solidFill>
                <a:latin typeface="Courier New"/>
              </a:rPr>
              <a:t>    def transform(self):</a:t>
            </a:r>
          </a:p>
          <a:p>
            <a:r>
              <a:rPr sz="900">
                <a:solidFill>
                  <a:srgbClr val="1F1F2E"/>
                </a:solidFill>
                <a:latin typeface="Courier New"/>
              </a:rPr>
              <a:t>        # clean, join, aggregate</a:t>
            </a:r>
          </a:p>
          <a:p>
            <a:r>
              <a:rPr sz="900">
                <a:solidFill>
                  <a:srgbClr val="1F1F2E"/>
                </a:solidFill>
                <a:latin typeface="Courier New"/>
              </a:rPr>
              <a:t/>
            </a:r>
          </a:p>
          <a:p>
            <a:r>
              <a:rPr sz="900">
                <a:solidFill>
                  <a:srgbClr val="1F1F2E"/>
                </a:solidFill>
                <a:latin typeface="Courier New"/>
              </a:rPr>
              <a:t>    def load(self):</a:t>
            </a:r>
          </a:p>
          <a:p>
            <a:r>
              <a:rPr sz="900">
                <a:solidFill>
                  <a:srgbClr val="1F1F2E"/>
                </a:solidFill>
                <a:latin typeface="Courier New"/>
              </a:rPr>
              <a:t>        # write output</a:t>
            </a:r>
          </a:p>
          <a:p>
            <a:r>
              <a:rPr sz="900">
                <a:solidFill>
                  <a:srgbClr val="1F1F2E"/>
                </a:solidFill>
                <a:latin typeface="Courier New"/>
              </a:rPr>
              <a:t/>
            </a:r>
          </a:p>
          <a:p>
            <a:r>
              <a:rPr sz="900">
                <a:solidFill>
                  <a:srgbClr val="1F1F2E"/>
                </a:solidFill>
                <a:latin typeface="Courier New"/>
              </a:rPr>
              <a:t>    def run(self):</a:t>
            </a:r>
          </a:p>
          <a:p>
            <a:r>
              <a:rPr sz="900">
                <a:solidFill>
                  <a:srgbClr val="1F1F2E"/>
                </a:solidFill>
                <a:latin typeface="Courier New"/>
              </a:rPr>
              <a:t>        with mlflow.start_run():</a:t>
            </a:r>
          </a:p>
          <a:p>
            <a:r>
              <a:rPr sz="900">
                <a:solidFill>
                  <a:srgbClr val="1F1F2E"/>
                </a:solidFill>
                <a:latin typeface="Courier New"/>
              </a:rPr>
              <a:t>            self.extract()</a:t>
            </a:r>
          </a:p>
          <a:p>
            <a:r>
              <a:rPr sz="900">
                <a:solidFill>
                  <a:srgbClr val="1F1F2E"/>
                </a:solidFill>
                <a:latin typeface="Courier New"/>
              </a:rPr>
              <a:t>            self.transform()</a:t>
            </a:r>
          </a:p>
          <a:p>
            <a:r>
              <a:rPr sz="900">
                <a:solidFill>
                  <a:srgbClr val="1F1F2E"/>
                </a:solidFill>
                <a:latin typeface="Courier New"/>
              </a:rPr>
              <a:t>            self.load()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
            <a:ext cx="1828800" cy="320040"/>
          </a:xfrm>
          <a:prstGeom prst="rect">
            <a:avLst/>
          </a:prstGeom>
          <a:noFill/>
        </p:spPr>
        <p:txBody>
          <a:bodyPr wrap="square">
            <a:spAutoFit/>
          </a:bodyPr>
          <a:lstStyle/>
          <a:p>
            <a:pPr algn="l"/>
            <a:r>
              <a:rPr sz="800" b="1" i="0">
                <a:solidFill>
                  <a:srgbClr val="8B5CF6"/>
                </a:solidFill>
                <a:latin typeface="Calibri"/>
              </a:rPr>
              <a:t>THE ASSIGNMENT</a:t>
            </a:r>
          </a:p>
        </p:txBody>
      </p:sp>
      <p:sp>
        <p:nvSpPr>
          <p:cNvPr id="5" name="TextBox 4"/>
          <p:cNvSpPr txBox="1"/>
          <p:nvPr/>
        </p:nvSpPr>
        <p:spPr>
          <a:xfrm>
            <a:off x="2103120" y="118872"/>
            <a:ext cx="9144000" cy="320040"/>
          </a:xfrm>
          <a:prstGeom prst="rect">
            <a:avLst/>
          </a:prstGeom>
          <a:noFill/>
        </p:spPr>
        <p:txBody>
          <a:bodyPr wrap="square">
            <a:spAutoFit/>
          </a:bodyPr>
          <a:lstStyle/>
          <a:p>
            <a:pPr algn="l"/>
            <a:r>
              <a:rPr sz="1600" b="1" i="0">
                <a:solidFill>
                  <a:srgbClr val="FFFFFF"/>
                </a:solidFill>
                <a:latin typeface="Calibri"/>
              </a:rPr>
              <a:t>Four notebooks — one pipeline</a:t>
            </a:r>
          </a:p>
        </p:txBody>
      </p:sp>
      <p:sp>
        <p:nvSpPr>
          <p:cNvPr id="6" name="TextBox 5"/>
          <p:cNvSpPr txBox="1"/>
          <p:nvPr/>
        </p:nvSpPr>
        <p:spPr>
          <a:xfrm>
            <a:off x="365760" y="868680"/>
            <a:ext cx="5029200" cy="274320"/>
          </a:xfrm>
          <a:prstGeom prst="rect">
            <a:avLst/>
          </a:prstGeom>
          <a:noFill/>
        </p:spPr>
        <p:txBody>
          <a:bodyPr wrap="square">
            <a:spAutoFit/>
          </a:bodyPr>
          <a:lstStyle/>
          <a:p>
            <a:pPr algn="l"/>
            <a:r>
              <a:rPr sz="800" b="1" i="0">
                <a:solidFill>
                  <a:srgbClr val="6D28D9"/>
                </a:solidFill>
                <a:latin typeface="Calibri"/>
              </a:rPr>
              <a:t>RUN IN ORDER</a:t>
            </a:r>
          </a:p>
        </p:txBody>
      </p:sp>
      <p:sp>
        <p:nvSpPr>
          <p:cNvPr id="7" name="Rectangle 6"/>
          <p:cNvSpPr/>
          <p:nvPr/>
        </p:nvSpPr>
        <p:spPr>
          <a:xfrm>
            <a:off x="365760" y="1124712"/>
            <a:ext cx="1371600" cy="180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188720"/>
            <a:ext cx="384048" cy="384048"/>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225296"/>
            <a:ext cx="384048" cy="292608"/>
          </a:xfrm>
          <a:prstGeom prst="rect">
            <a:avLst/>
          </a:prstGeom>
          <a:noFill/>
        </p:spPr>
        <p:txBody>
          <a:bodyPr wrap="square">
            <a:spAutoFit/>
          </a:bodyPr>
          <a:lstStyle/>
          <a:p>
            <a:pPr algn="ctr"/>
            <a:r>
              <a:rPr sz="900" b="1" i="0">
                <a:solidFill>
                  <a:srgbClr val="FFFFFF"/>
                </a:solidFill>
                <a:latin typeface="Calibri"/>
              </a:rPr>
              <a:t>00</a:t>
            </a:r>
          </a:p>
        </p:txBody>
      </p:sp>
      <p:sp>
        <p:nvSpPr>
          <p:cNvPr id="10" name="TextBox 9"/>
          <p:cNvSpPr txBox="1"/>
          <p:nvPr/>
        </p:nvSpPr>
        <p:spPr>
          <a:xfrm>
            <a:off x="841248" y="1188720"/>
            <a:ext cx="5120640" cy="228600"/>
          </a:xfrm>
          <a:prstGeom prst="rect">
            <a:avLst/>
          </a:prstGeom>
          <a:noFill/>
        </p:spPr>
        <p:txBody>
          <a:bodyPr wrap="square">
            <a:spAutoFit/>
          </a:bodyPr>
          <a:lstStyle/>
          <a:p>
            <a:pPr algn="l"/>
            <a:r>
              <a:rPr sz="1100" b="1" i="0">
                <a:solidFill>
                  <a:srgbClr val="0F0F0F"/>
                </a:solidFill>
                <a:latin typeface="Calibri"/>
              </a:rPr>
              <a:t>Setup — load the data</a:t>
            </a:r>
          </a:p>
        </p:txBody>
      </p:sp>
      <p:sp>
        <p:nvSpPr>
          <p:cNvPr id="11" name="TextBox 10"/>
          <p:cNvSpPr txBox="1"/>
          <p:nvPr/>
        </p:nvSpPr>
        <p:spPr>
          <a:xfrm>
            <a:off x="841248" y="1417320"/>
            <a:ext cx="5120640" cy="320040"/>
          </a:xfrm>
          <a:prstGeom prst="rect">
            <a:avLst/>
          </a:prstGeom>
          <a:noFill/>
        </p:spPr>
        <p:txBody>
          <a:bodyPr wrap="square">
            <a:spAutoFit/>
          </a:bodyPr>
          <a:lstStyle/>
          <a:p>
            <a:pPr algn="l"/>
            <a:r>
              <a:rPr sz="900" b="0" i="0">
                <a:solidFill>
                  <a:srgbClr val="6B7280"/>
                </a:solidFill>
                <a:latin typeface="Calibri"/>
              </a:rPr>
              <a:t>14 CSV files → dream_airlines_dw.* Delta tables.  One command, done.</a:t>
            </a:r>
          </a:p>
        </p:txBody>
      </p:sp>
      <p:sp>
        <p:nvSpPr>
          <p:cNvPr id="12" name="Rectangle 11"/>
          <p:cNvSpPr/>
          <p:nvPr/>
        </p:nvSpPr>
        <p:spPr>
          <a:xfrm>
            <a:off x="365760" y="1874520"/>
            <a:ext cx="384048" cy="384048"/>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911096"/>
            <a:ext cx="384048" cy="292608"/>
          </a:xfrm>
          <a:prstGeom prst="rect">
            <a:avLst/>
          </a:prstGeom>
          <a:noFill/>
        </p:spPr>
        <p:txBody>
          <a:bodyPr wrap="square">
            <a:spAutoFit/>
          </a:bodyPr>
          <a:lstStyle/>
          <a:p>
            <a:pPr algn="ctr"/>
            <a:r>
              <a:rPr sz="900" b="1" i="0">
                <a:solidFill>
                  <a:srgbClr val="FFFFFF"/>
                </a:solidFill>
                <a:latin typeface="Calibri"/>
              </a:rPr>
              <a:t>01</a:t>
            </a:r>
          </a:p>
        </p:txBody>
      </p:sp>
      <p:sp>
        <p:nvSpPr>
          <p:cNvPr id="14" name="TextBox 13"/>
          <p:cNvSpPr txBox="1"/>
          <p:nvPr/>
        </p:nvSpPr>
        <p:spPr>
          <a:xfrm>
            <a:off x="841248" y="1874520"/>
            <a:ext cx="5120640" cy="228600"/>
          </a:xfrm>
          <a:prstGeom prst="rect">
            <a:avLst/>
          </a:prstGeom>
          <a:noFill/>
        </p:spPr>
        <p:txBody>
          <a:bodyPr wrap="square">
            <a:spAutoFit/>
          </a:bodyPr>
          <a:lstStyle/>
          <a:p>
            <a:pPr algn="l"/>
            <a:r>
              <a:rPr sz="1100" b="1" i="0">
                <a:solidFill>
                  <a:srgbClr val="0F0F0F"/>
                </a:solidFill>
                <a:latin typeface="Calibri"/>
              </a:rPr>
              <a:t>Explore — profile the data</a:t>
            </a:r>
          </a:p>
        </p:txBody>
      </p:sp>
      <p:sp>
        <p:nvSpPr>
          <p:cNvPr id="15" name="TextBox 14"/>
          <p:cNvSpPr txBox="1"/>
          <p:nvPr/>
        </p:nvSpPr>
        <p:spPr>
          <a:xfrm>
            <a:off x="841248" y="2103120"/>
            <a:ext cx="5120640" cy="320040"/>
          </a:xfrm>
          <a:prstGeom prst="rect">
            <a:avLst/>
          </a:prstGeom>
          <a:noFill/>
        </p:spPr>
        <p:txBody>
          <a:bodyPr wrap="square">
            <a:spAutoFit/>
          </a:bodyPr>
          <a:lstStyle/>
          <a:p>
            <a:pPr algn="l"/>
            <a:r>
              <a:rPr sz="900" b="0" i="0">
                <a:solidFill>
                  <a:srgbClr val="6B7280"/>
                </a:solidFill>
                <a:latin typeface="Calibri"/>
              </a:rPr>
              <a:t>Find nulls, broken FK, integer dates, audit noise.  Document every finding.</a:t>
            </a:r>
          </a:p>
        </p:txBody>
      </p:sp>
      <p:sp>
        <p:nvSpPr>
          <p:cNvPr id="16" name="Rectangle 15"/>
          <p:cNvSpPr/>
          <p:nvPr/>
        </p:nvSpPr>
        <p:spPr>
          <a:xfrm>
            <a:off x="365760" y="2560320"/>
            <a:ext cx="384048" cy="384048"/>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596896"/>
            <a:ext cx="384048" cy="292608"/>
          </a:xfrm>
          <a:prstGeom prst="rect">
            <a:avLst/>
          </a:prstGeom>
          <a:noFill/>
        </p:spPr>
        <p:txBody>
          <a:bodyPr wrap="square">
            <a:spAutoFit/>
          </a:bodyPr>
          <a:lstStyle/>
          <a:p>
            <a:pPr algn="ctr"/>
            <a:r>
              <a:rPr sz="900" b="1" i="0">
                <a:solidFill>
                  <a:srgbClr val="FFFFFF"/>
                </a:solidFill>
                <a:latin typeface="Calibri"/>
              </a:rPr>
              <a:t>02</a:t>
            </a:r>
          </a:p>
        </p:txBody>
      </p:sp>
      <p:sp>
        <p:nvSpPr>
          <p:cNvPr id="18" name="TextBox 17"/>
          <p:cNvSpPr txBox="1"/>
          <p:nvPr/>
        </p:nvSpPr>
        <p:spPr>
          <a:xfrm>
            <a:off x="841248" y="2560320"/>
            <a:ext cx="5120640" cy="228600"/>
          </a:xfrm>
          <a:prstGeom prst="rect">
            <a:avLst/>
          </a:prstGeom>
          <a:noFill/>
        </p:spPr>
        <p:txBody>
          <a:bodyPr wrap="square">
            <a:spAutoFit/>
          </a:bodyPr>
          <a:lstStyle/>
          <a:p>
            <a:pPr algn="l"/>
            <a:r>
              <a:rPr sz="1100" b="1" i="0">
                <a:solidFill>
                  <a:srgbClr val="0F0F0F"/>
                </a:solidFill>
                <a:latin typeface="Calibri"/>
              </a:rPr>
              <a:t>Build — complete the ETL job</a:t>
            </a:r>
          </a:p>
        </p:txBody>
      </p:sp>
      <p:sp>
        <p:nvSpPr>
          <p:cNvPr id="19" name="TextBox 18"/>
          <p:cNvSpPr txBox="1"/>
          <p:nvPr/>
        </p:nvSpPr>
        <p:spPr>
          <a:xfrm>
            <a:off x="841248" y="2788920"/>
            <a:ext cx="5120640" cy="320040"/>
          </a:xfrm>
          <a:prstGeom prst="rect">
            <a:avLst/>
          </a:prstGeom>
          <a:noFill/>
        </p:spPr>
        <p:txBody>
          <a:bodyPr wrap="square">
            <a:spAutoFit/>
          </a:bodyPr>
          <a:lstStyle/>
          <a:p>
            <a:pPr algn="l"/>
            <a:r>
              <a:rPr sz="900" b="0" i="0">
                <a:solidFill>
                  <a:srgbClr val="6B7280"/>
                </a:solidFill>
                <a:latin typeface="Calibri"/>
              </a:rPr>
              <a:t>Fill in 4 TODOs inside transform().  Everything else is wired up.</a:t>
            </a:r>
          </a:p>
        </p:txBody>
      </p:sp>
      <p:sp>
        <p:nvSpPr>
          <p:cNvPr id="20" name="Rectangle 19"/>
          <p:cNvSpPr/>
          <p:nvPr/>
        </p:nvSpPr>
        <p:spPr>
          <a:xfrm>
            <a:off x="365760" y="3246120"/>
            <a:ext cx="384048" cy="384048"/>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282696"/>
            <a:ext cx="384048" cy="292608"/>
          </a:xfrm>
          <a:prstGeom prst="rect">
            <a:avLst/>
          </a:prstGeom>
          <a:noFill/>
        </p:spPr>
        <p:txBody>
          <a:bodyPr wrap="square">
            <a:spAutoFit/>
          </a:bodyPr>
          <a:lstStyle/>
          <a:p>
            <a:pPr algn="ctr"/>
            <a:r>
              <a:rPr sz="900" b="1" i="0">
                <a:solidFill>
                  <a:srgbClr val="FFFFFF"/>
                </a:solidFill>
                <a:latin typeface="Calibri"/>
              </a:rPr>
              <a:t>04</a:t>
            </a:r>
          </a:p>
        </p:txBody>
      </p:sp>
      <p:sp>
        <p:nvSpPr>
          <p:cNvPr id="22" name="TextBox 21"/>
          <p:cNvSpPr txBox="1"/>
          <p:nvPr/>
        </p:nvSpPr>
        <p:spPr>
          <a:xfrm>
            <a:off x="841248" y="3246120"/>
            <a:ext cx="5120640" cy="228600"/>
          </a:xfrm>
          <a:prstGeom prst="rect">
            <a:avLst/>
          </a:prstGeom>
          <a:noFill/>
        </p:spPr>
        <p:txBody>
          <a:bodyPr wrap="square">
            <a:spAutoFit/>
          </a:bodyPr>
          <a:lstStyle/>
          <a:p>
            <a:pPr algn="l"/>
            <a:r>
              <a:rPr sz="1100" b="1" i="0">
                <a:solidFill>
                  <a:srgbClr val="0F0F0F"/>
                </a:solidFill>
                <a:latin typeface="Calibri"/>
              </a:rPr>
              <a:t>Upgrade — rewrite SQL as DataFrame API</a:t>
            </a:r>
          </a:p>
        </p:txBody>
      </p:sp>
      <p:sp>
        <p:nvSpPr>
          <p:cNvPr id="23" name="TextBox 22"/>
          <p:cNvSpPr txBox="1"/>
          <p:nvPr/>
        </p:nvSpPr>
        <p:spPr>
          <a:xfrm>
            <a:off x="841248" y="3474720"/>
            <a:ext cx="5120640" cy="320040"/>
          </a:xfrm>
          <a:prstGeom prst="rect">
            <a:avLst/>
          </a:prstGeom>
          <a:noFill/>
        </p:spPr>
        <p:txBody>
          <a:bodyPr wrap="square">
            <a:spAutoFit/>
          </a:bodyPr>
          <a:lstStyle/>
          <a:p>
            <a:pPr algn="l"/>
            <a:r>
              <a:rPr sz="900" b="0" i="0">
                <a:solidFill>
                  <a:srgbClr val="6B7280"/>
                </a:solidFill>
                <a:latin typeface="Calibri"/>
              </a:rPr>
              <a:t>Convert a working SQL job to the DataFrame API.  Then watch MLflow catch failures.</a:t>
            </a:r>
          </a:p>
        </p:txBody>
      </p:sp>
      <p:sp>
        <p:nvSpPr>
          <p:cNvPr id="24" name="TextBox 23"/>
          <p:cNvSpPr txBox="1"/>
          <p:nvPr/>
        </p:nvSpPr>
        <p:spPr>
          <a:xfrm>
            <a:off x="6217920" y="868680"/>
            <a:ext cx="5029200" cy="274320"/>
          </a:xfrm>
          <a:prstGeom prst="rect">
            <a:avLst/>
          </a:prstGeom>
          <a:noFill/>
        </p:spPr>
        <p:txBody>
          <a:bodyPr wrap="square">
            <a:spAutoFit/>
          </a:bodyPr>
          <a:lstStyle/>
          <a:p>
            <a:pPr algn="l"/>
            <a:r>
              <a:rPr sz="800" b="1" i="0">
                <a:solidFill>
                  <a:srgbClr val="6D28D9"/>
                </a:solidFill>
                <a:latin typeface="Calibri"/>
              </a:rPr>
              <a:t>WHAT YOU WILL BUILD</a:t>
            </a:r>
          </a:p>
        </p:txBody>
      </p:sp>
      <p:sp>
        <p:nvSpPr>
          <p:cNvPr id="25" name="Rectangle 24"/>
          <p:cNvSpPr/>
          <p:nvPr/>
        </p:nvSpPr>
        <p:spPr>
          <a:xfrm>
            <a:off x="6217920" y="1124712"/>
            <a:ext cx="1371600" cy="180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1161288"/>
            <a:ext cx="5852160" cy="2148840"/>
          </a:xfrm>
          <a:prstGeom prst="rect">
            <a:avLst/>
          </a:prstGeom>
          <a:solidFill>
            <a:srgbClr val="F3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1161288"/>
            <a:ext cx="54864" cy="21488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7648" y="1252728"/>
            <a:ext cx="5687568" cy="1965960"/>
          </a:xfrm>
          <a:prstGeom prst="rect">
            <a:avLst/>
          </a:prstGeom>
          <a:noFill/>
        </p:spPr>
        <p:txBody>
          <a:bodyPr wrap="none">
            <a:spAutoFit/>
          </a:bodyPr>
          <a:lstStyle/>
          <a:p>
            <a:r>
              <a:rPr sz="850">
                <a:solidFill>
                  <a:srgbClr val="1F1F2E"/>
                </a:solidFill>
                <a:latin typeface="Courier New"/>
              </a:rPr>
              <a:t>analytics.booking_revenue_summary</a:t>
            </a:r>
          </a:p>
          <a:p>
            <a:r>
              <a:rPr sz="850">
                <a:solidFill>
                  <a:srgbClr val="1F1F2E"/>
                </a:solidFill>
                <a:latin typeface="Courier New"/>
              </a:rPr>
              <a:t>──────────────────────────────────</a:t>
            </a:r>
          </a:p>
          <a:p>
            <a:r>
              <a:rPr sz="850">
                <a:solidFill>
                  <a:srgbClr val="1F1F2E"/>
                </a:solidFill>
                <a:latin typeface="Courier New"/>
              </a:rPr>
              <a:t>booking_date       DATE</a:t>
            </a:r>
          </a:p>
          <a:p>
            <a:r>
              <a:rPr sz="850">
                <a:solidFill>
                  <a:srgbClr val="1F1F2E"/>
                </a:solidFill>
                <a:latin typeface="Courier New"/>
              </a:rPr>
              <a:t>travel_agency      STRING</a:t>
            </a:r>
          </a:p>
          <a:p>
            <a:r>
              <a:rPr sz="850">
                <a:solidFill>
                  <a:srgbClr val="1F1F2E"/>
                </a:solidFill>
                <a:latin typeface="Courier New"/>
              </a:rPr>
              <a:t>destination        STRING</a:t>
            </a:r>
          </a:p>
          <a:p>
            <a:r>
              <a:rPr sz="850">
                <a:solidFill>
                  <a:srgbClr val="1F1F2E"/>
                </a:solidFill>
                <a:latin typeface="Courier New"/>
              </a:rPr>
              <a:t>travel_class       STRING</a:t>
            </a:r>
          </a:p>
          <a:p>
            <a:r>
              <a:rPr sz="850">
                <a:solidFill>
                  <a:srgbClr val="1F1F2E"/>
                </a:solidFill>
                <a:latin typeface="Courier New"/>
              </a:rPr>
              <a:t>customer_type      STRING</a:t>
            </a:r>
          </a:p>
          <a:p>
            <a:r>
              <a:rPr sz="850">
                <a:solidFill>
                  <a:srgbClr val="1F1F2E"/>
                </a:solidFill>
                <a:latin typeface="Courier New"/>
              </a:rPr>
              <a:t>num_bookings       LONG</a:t>
            </a:r>
          </a:p>
          <a:p>
            <a:r>
              <a:rPr sz="850">
                <a:solidFill>
                  <a:srgbClr val="1F1F2E"/>
                </a:solidFill>
                <a:latin typeface="Courier New"/>
              </a:rPr>
              <a:t>travel_revenue     DOUBLE</a:t>
            </a:r>
          </a:p>
          <a:p>
            <a:r>
              <a:rPr sz="850">
                <a:solidFill>
                  <a:srgbClr val="1F1F2E"/>
                </a:solidFill>
                <a:latin typeface="Courier New"/>
              </a:rPr>
              <a:t>hotel_revenue      DOUBLE</a:t>
            </a:r>
          </a:p>
          <a:p>
            <a:r>
              <a:rPr sz="850">
                <a:solidFill>
                  <a:srgbClr val="1F1F2E"/>
                </a:solidFill>
                <a:latin typeface="Courier New"/>
              </a:rPr>
              <a:t>car_revenue        DOUBLE</a:t>
            </a:r>
          </a:p>
          <a:p>
            <a:r>
              <a:rPr sz="850">
                <a:solidFill>
                  <a:srgbClr val="1F1F2E"/>
                </a:solidFill>
                <a:latin typeface="Courier New"/>
              </a:rPr>
              <a:t>insurance_revenue  DOUBLE</a:t>
            </a:r>
          </a:p>
          <a:p>
            <a:r>
              <a:rPr sz="850">
                <a:solidFill>
                  <a:srgbClr val="1F1F2E"/>
                </a:solidFill>
                <a:latin typeface="Courier New"/>
              </a:rPr>
              <a:t>total_revenue      DOUBLE</a:t>
            </a:r>
          </a:p>
          <a:p>
            <a:r>
              <a:rPr sz="850">
                <a:solidFill>
                  <a:srgbClr val="1F1F2E"/>
                </a:solidFill>
                <a:latin typeface="Courier New"/>
              </a:rPr>
              <a:t>revenue_tier       STRING   # High / Medium / Low</a:t>
            </a:r>
          </a:p>
        </p:txBody>
      </p:sp>
      <p:sp>
        <p:nvSpPr>
          <p:cNvPr id="29" name="TextBox 28"/>
          <p:cNvSpPr txBox="1"/>
          <p:nvPr/>
        </p:nvSpPr>
        <p:spPr>
          <a:xfrm>
            <a:off x="6217920" y="3474720"/>
            <a:ext cx="5029200" cy="274320"/>
          </a:xfrm>
          <a:prstGeom prst="rect">
            <a:avLst/>
          </a:prstGeom>
          <a:noFill/>
        </p:spPr>
        <p:txBody>
          <a:bodyPr wrap="square">
            <a:spAutoFit/>
          </a:bodyPr>
          <a:lstStyle/>
          <a:p>
            <a:pPr algn="l"/>
            <a:r>
              <a:rPr sz="800" b="1" i="0">
                <a:solidFill>
                  <a:srgbClr val="6D28D9"/>
                </a:solidFill>
                <a:latin typeface="Calibri"/>
              </a:rPr>
              <a:t>DATA QUALITY ISSUES TO FIND FIRST</a:t>
            </a:r>
          </a:p>
        </p:txBody>
      </p:sp>
      <p:sp>
        <p:nvSpPr>
          <p:cNvPr id="30" name="Rectangle 29"/>
          <p:cNvSpPr/>
          <p:nvPr/>
        </p:nvSpPr>
        <p:spPr>
          <a:xfrm>
            <a:off x="6217920" y="3730752"/>
            <a:ext cx="1371600" cy="180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0" y="3776472"/>
            <a:ext cx="3200400" cy="228600"/>
          </a:xfrm>
          <a:prstGeom prst="rect">
            <a:avLst/>
          </a:prstGeom>
          <a:noFill/>
        </p:spPr>
        <p:txBody>
          <a:bodyPr wrap="square">
            <a:spAutoFit/>
          </a:bodyPr>
          <a:lstStyle/>
          <a:p>
            <a:pPr algn="l"/>
            <a:r>
              <a:rPr sz="900" b="1" i="0">
                <a:solidFill>
                  <a:srgbClr val="3B0764"/>
                </a:solidFill>
                <a:latin typeface="Calibri"/>
              </a:rPr>
              <a:t>#</a:t>
            </a:r>
          </a:p>
        </p:txBody>
      </p:sp>
      <p:sp>
        <p:nvSpPr>
          <p:cNvPr id="32" name="TextBox 31"/>
          <p:cNvSpPr txBox="1"/>
          <p:nvPr/>
        </p:nvSpPr>
        <p:spPr>
          <a:xfrm>
            <a:off x="6675120" y="3776472"/>
            <a:ext cx="3200400" cy="228600"/>
          </a:xfrm>
          <a:prstGeom prst="rect">
            <a:avLst/>
          </a:prstGeom>
          <a:noFill/>
        </p:spPr>
        <p:txBody>
          <a:bodyPr wrap="square">
            <a:spAutoFit/>
          </a:bodyPr>
          <a:lstStyle/>
          <a:p>
            <a:pPr algn="l"/>
            <a:r>
              <a:rPr sz="900" b="1" i="0">
                <a:solidFill>
                  <a:srgbClr val="3B0764"/>
                </a:solidFill>
                <a:latin typeface="Calibri"/>
              </a:rPr>
              <a:t>Issue</a:t>
            </a:r>
          </a:p>
        </p:txBody>
      </p:sp>
      <p:sp>
        <p:nvSpPr>
          <p:cNvPr id="33" name="TextBox 32"/>
          <p:cNvSpPr txBox="1"/>
          <p:nvPr/>
        </p:nvSpPr>
        <p:spPr>
          <a:xfrm>
            <a:off x="10058400" y="3776472"/>
            <a:ext cx="3200400" cy="228600"/>
          </a:xfrm>
          <a:prstGeom prst="rect">
            <a:avLst/>
          </a:prstGeom>
          <a:noFill/>
        </p:spPr>
        <p:txBody>
          <a:bodyPr wrap="square">
            <a:spAutoFit/>
          </a:bodyPr>
          <a:lstStyle/>
          <a:p>
            <a:pPr algn="l"/>
            <a:r>
              <a:rPr sz="900" b="1" i="0">
                <a:solidFill>
                  <a:srgbClr val="3B0764"/>
                </a:solidFill>
                <a:latin typeface="Calibri"/>
              </a:rPr>
              <a:t>Fix</a:t>
            </a:r>
          </a:p>
        </p:txBody>
      </p:sp>
      <p:sp>
        <p:nvSpPr>
          <p:cNvPr id="34" name="Rectangle 33"/>
          <p:cNvSpPr/>
          <p:nvPr/>
        </p:nvSpPr>
        <p:spPr>
          <a:xfrm>
            <a:off x="6217920" y="4014216"/>
            <a:ext cx="5852160" cy="120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0" y="4069080"/>
            <a:ext cx="411480" cy="256032"/>
          </a:xfrm>
          <a:prstGeom prst="rect">
            <a:avLst/>
          </a:prstGeom>
          <a:noFill/>
        </p:spPr>
        <p:txBody>
          <a:bodyPr wrap="square">
            <a:spAutoFit/>
          </a:bodyPr>
          <a:lstStyle/>
          <a:p>
            <a:pPr algn="l"/>
            <a:r>
              <a:rPr sz="900" b="1" i="0">
                <a:solidFill>
                  <a:srgbClr val="6D28D9"/>
                </a:solidFill>
                <a:latin typeface="Calibri"/>
              </a:rPr>
              <a:t>Q1</a:t>
            </a:r>
          </a:p>
        </p:txBody>
      </p:sp>
      <p:sp>
        <p:nvSpPr>
          <p:cNvPr id="36" name="TextBox 35"/>
          <p:cNvSpPr txBox="1"/>
          <p:nvPr/>
        </p:nvSpPr>
        <p:spPr>
          <a:xfrm>
            <a:off x="6675120" y="4069080"/>
            <a:ext cx="3291840" cy="256032"/>
          </a:xfrm>
          <a:prstGeom prst="rect">
            <a:avLst/>
          </a:prstGeom>
          <a:noFill/>
        </p:spPr>
        <p:txBody>
          <a:bodyPr wrap="square">
            <a:spAutoFit/>
          </a:bodyPr>
          <a:lstStyle/>
          <a:p>
            <a:pPr algn="l"/>
            <a:r>
              <a:rPr sz="900" b="0" i="0">
                <a:solidFill>
                  <a:srgbClr val="0F0F0F"/>
                </a:solidFill>
                <a:latin typeface="Calibri"/>
              </a:rPr>
              <a:t>Nullable FK in fact_car_renting</a:t>
            </a:r>
          </a:p>
        </p:txBody>
      </p:sp>
      <p:sp>
        <p:nvSpPr>
          <p:cNvPr id="37" name="Rectangle 36"/>
          <p:cNvSpPr/>
          <p:nvPr/>
        </p:nvSpPr>
        <p:spPr>
          <a:xfrm>
            <a:off x="10012680" y="4069080"/>
            <a:ext cx="1645920" cy="237744"/>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0" y="4087368"/>
            <a:ext cx="1600200" cy="219456"/>
          </a:xfrm>
          <a:prstGeom prst="rect">
            <a:avLst/>
          </a:prstGeom>
          <a:noFill/>
        </p:spPr>
        <p:txBody>
          <a:bodyPr wrap="square">
            <a:spAutoFit/>
          </a:bodyPr>
          <a:lstStyle/>
          <a:p>
            <a:pPr algn="l"/>
            <a:r>
              <a:rPr sz="800" b="1" i="0">
                <a:solidFill>
                  <a:srgbClr val="3B0764"/>
                </a:solidFill>
                <a:latin typeface="Calibri"/>
              </a:rPr>
              <a:t>LEFT JOIN</a:t>
            </a:r>
          </a:p>
        </p:txBody>
      </p:sp>
      <p:sp>
        <p:nvSpPr>
          <p:cNvPr id="39" name="TextBox 38"/>
          <p:cNvSpPr txBox="1"/>
          <p:nvPr/>
        </p:nvSpPr>
        <p:spPr>
          <a:xfrm>
            <a:off x="6217920" y="4370832"/>
            <a:ext cx="411480" cy="256032"/>
          </a:xfrm>
          <a:prstGeom prst="rect">
            <a:avLst/>
          </a:prstGeom>
          <a:noFill/>
        </p:spPr>
        <p:txBody>
          <a:bodyPr wrap="square">
            <a:spAutoFit/>
          </a:bodyPr>
          <a:lstStyle/>
          <a:p>
            <a:pPr algn="l"/>
            <a:r>
              <a:rPr sz="900" b="1" i="0">
                <a:solidFill>
                  <a:srgbClr val="6D28D9"/>
                </a:solidFill>
                <a:latin typeface="Calibri"/>
              </a:rPr>
              <a:t>Q2</a:t>
            </a:r>
          </a:p>
        </p:txBody>
      </p:sp>
      <p:sp>
        <p:nvSpPr>
          <p:cNvPr id="40" name="TextBox 39"/>
          <p:cNvSpPr txBox="1"/>
          <p:nvPr/>
        </p:nvSpPr>
        <p:spPr>
          <a:xfrm>
            <a:off x="6675120" y="4370832"/>
            <a:ext cx="3291840" cy="256032"/>
          </a:xfrm>
          <a:prstGeom prst="rect">
            <a:avLst/>
          </a:prstGeom>
          <a:noFill/>
        </p:spPr>
        <p:txBody>
          <a:bodyPr wrap="square">
            <a:spAutoFit/>
          </a:bodyPr>
          <a:lstStyle/>
          <a:p>
            <a:pPr algn="l"/>
            <a:r>
              <a:rPr sz="900" b="0" i="0">
                <a:solidFill>
                  <a:srgbClr val="0F0F0F"/>
                </a:solidFill>
                <a:latin typeface="Calibri"/>
              </a:rPr>
              <a:t>Null amounts across all facts</a:t>
            </a:r>
          </a:p>
        </p:txBody>
      </p:sp>
      <p:sp>
        <p:nvSpPr>
          <p:cNvPr id="41" name="Rectangle 40"/>
          <p:cNvSpPr/>
          <p:nvPr/>
        </p:nvSpPr>
        <p:spPr>
          <a:xfrm>
            <a:off x="10012680" y="4370832"/>
            <a:ext cx="1645920" cy="237744"/>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0" y="4389120"/>
            <a:ext cx="1600200" cy="219456"/>
          </a:xfrm>
          <a:prstGeom prst="rect">
            <a:avLst/>
          </a:prstGeom>
          <a:noFill/>
        </p:spPr>
        <p:txBody>
          <a:bodyPr wrap="square">
            <a:spAutoFit/>
          </a:bodyPr>
          <a:lstStyle/>
          <a:p>
            <a:pPr algn="l"/>
            <a:r>
              <a:rPr sz="800" b="1" i="0">
                <a:solidFill>
                  <a:srgbClr val="3B0764"/>
                </a:solidFill>
                <a:latin typeface="Calibri"/>
              </a:rPr>
              <a:t>COALESCE → 0</a:t>
            </a:r>
          </a:p>
        </p:txBody>
      </p:sp>
      <p:sp>
        <p:nvSpPr>
          <p:cNvPr id="43" name="TextBox 42"/>
          <p:cNvSpPr txBox="1"/>
          <p:nvPr/>
        </p:nvSpPr>
        <p:spPr>
          <a:xfrm>
            <a:off x="6217920" y="4672584"/>
            <a:ext cx="411480" cy="256032"/>
          </a:xfrm>
          <a:prstGeom prst="rect">
            <a:avLst/>
          </a:prstGeom>
          <a:noFill/>
        </p:spPr>
        <p:txBody>
          <a:bodyPr wrap="square">
            <a:spAutoFit/>
          </a:bodyPr>
          <a:lstStyle/>
          <a:p>
            <a:pPr algn="l"/>
            <a:r>
              <a:rPr sz="900" b="1" i="0">
                <a:solidFill>
                  <a:srgbClr val="6D28D9"/>
                </a:solidFill>
                <a:latin typeface="Calibri"/>
              </a:rPr>
              <a:t>Q3</a:t>
            </a:r>
          </a:p>
        </p:txBody>
      </p:sp>
      <p:sp>
        <p:nvSpPr>
          <p:cNvPr id="44" name="TextBox 43"/>
          <p:cNvSpPr txBox="1"/>
          <p:nvPr/>
        </p:nvSpPr>
        <p:spPr>
          <a:xfrm>
            <a:off x="6675120" y="4672584"/>
            <a:ext cx="3291840" cy="256032"/>
          </a:xfrm>
          <a:prstGeom prst="rect">
            <a:avLst/>
          </a:prstGeom>
          <a:noFill/>
        </p:spPr>
        <p:txBody>
          <a:bodyPr wrap="square">
            <a:spAutoFit/>
          </a:bodyPr>
          <a:lstStyle/>
          <a:p>
            <a:pPr algn="l"/>
            <a:r>
              <a:rPr sz="900" b="0" i="0">
                <a:solidFill>
                  <a:srgbClr val="0F0F0F"/>
                </a:solidFill>
                <a:latin typeface="Calibri"/>
              </a:rPr>
              <a:t>Dates as integers (YYYYMMDD)</a:t>
            </a:r>
          </a:p>
        </p:txBody>
      </p:sp>
      <p:sp>
        <p:nvSpPr>
          <p:cNvPr id="45" name="Rectangle 44"/>
          <p:cNvSpPr/>
          <p:nvPr/>
        </p:nvSpPr>
        <p:spPr>
          <a:xfrm>
            <a:off x="10012680" y="4672584"/>
            <a:ext cx="1645920" cy="237744"/>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0" y="4690872"/>
            <a:ext cx="1600200" cy="219456"/>
          </a:xfrm>
          <a:prstGeom prst="rect">
            <a:avLst/>
          </a:prstGeom>
          <a:noFill/>
        </p:spPr>
        <p:txBody>
          <a:bodyPr wrap="square">
            <a:spAutoFit/>
          </a:bodyPr>
          <a:lstStyle/>
          <a:p>
            <a:pPr algn="l"/>
            <a:r>
              <a:rPr sz="800" b="1" i="0">
                <a:solidFill>
                  <a:srgbClr val="3B0764"/>
                </a:solidFill>
                <a:latin typeface="Calibri"/>
              </a:rPr>
              <a:t>join dim_date</a:t>
            </a:r>
          </a:p>
        </p:txBody>
      </p:sp>
      <p:sp>
        <p:nvSpPr>
          <p:cNvPr id="47" name="TextBox 46"/>
          <p:cNvSpPr txBox="1"/>
          <p:nvPr/>
        </p:nvSpPr>
        <p:spPr>
          <a:xfrm>
            <a:off x="6217920" y="4974336"/>
            <a:ext cx="411480" cy="256032"/>
          </a:xfrm>
          <a:prstGeom prst="rect">
            <a:avLst/>
          </a:prstGeom>
          <a:noFill/>
        </p:spPr>
        <p:txBody>
          <a:bodyPr wrap="square">
            <a:spAutoFit/>
          </a:bodyPr>
          <a:lstStyle/>
          <a:p>
            <a:pPr algn="l"/>
            <a:r>
              <a:rPr sz="900" b="1" i="0">
                <a:solidFill>
                  <a:srgbClr val="6D28D9"/>
                </a:solidFill>
                <a:latin typeface="Calibri"/>
              </a:rPr>
              <a:t>Q4</a:t>
            </a:r>
          </a:p>
        </p:txBody>
      </p:sp>
      <p:sp>
        <p:nvSpPr>
          <p:cNvPr id="48" name="TextBox 47"/>
          <p:cNvSpPr txBox="1"/>
          <p:nvPr/>
        </p:nvSpPr>
        <p:spPr>
          <a:xfrm>
            <a:off x="6675120" y="4974336"/>
            <a:ext cx="3291840" cy="256032"/>
          </a:xfrm>
          <a:prstGeom prst="rect">
            <a:avLst/>
          </a:prstGeom>
          <a:noFill/>
        </p:spPr>
        <p:txBody>
          <a:bodyPr wrap="square">
            <a:spAutoFit/>
          </a:bodyPr>
          <a:lstStyle/>
          <a:p>
            <a:pPr algn="l"/>
            <a:r>
              <a:rPr sz="900" b="0" i="0">
                <a:solidFill>
                  <a:srgbClr val="0F0F0F"/>
                </a:solidFill>
                <a:latin typeface="Calibri"/>
              </a:rPr>
              <a:t>Customer join is on name, not PK</a:t>
            </a:r>
          </a:p>
        </p:txBody>
      </p:sp>
      <p:sp>
        <p:nvSpPr>
          <p:cNvPr id="49" name="Rectangle 48"/>
          <p:cNvSpPr/>
          <p:nvPr/>
        </p:nvSpPr>
        <p:spPr>
          <a:xfrm>
            <a:off x="10012680" y="4974336"/>
            <a:ext cx="1645920" cy="237744"/>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58400" y="4992624"/>
            <a:ext cx="1600200" cy="219456"/>
          </a:xfrm>
          <a:prstGeom prst="rect">
            <a:avLst/>
          </a:prstGeom>
          <a:noFill/>
        </p:spPr>
        <p:txBody>
          <a:bodyPr wrap="square">
            <a:spAutoFit/>
          </a:bodyPr>
          <a:lstStyle/>
          <a:p>
            <a:pPr algn="l"/>
            <a:r>
              <a:rPr sz="800" b="1" i="0">
                <a:solidFill>
                  <a:srgbClr val="3B0764"/>
                </a:solidFill>
                <a:latin typeface="Calibri"/>
              </a:rPr>
              <a:t>DSC_Customer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
            <a:ext cx="1828800" cy="320040"/>
          </a:xfrm>
          <a:prstGeom prst="rect">
            <a:avLst/>
          </a:prstGeom>
          <a:noFill/>
        </p:spPr>
        <p:txBody>
          <a:bodyPr wrap="square">
            <a:spAutoFit/>
          </a:bodyPr>
          <a:lstStyle/>
          <a:p>
            <a:pPr algn="l"/>
            <a:r>
              <a:rPr sz="800" b="1" i="0">
                <a:solidFill>
                  <a:srgbClr val="8B5CF6"/>
                </a:solidFill>
                <a:latin typeface="Calibri"/>
              </a:rPr>
              <a:t>SOLUTIONS &amp; TAKEAWAYS</a:t>
            </a:r>
          </a:p>
        </p:txBody>
      </p:sp>
      <p:sp>
        <p:nvSpPr>
          <p:cNvPr id="5" name="TextBox 4"/>
          <p:cNvSpPr txBox="1"/>
          <p:nvPr/>
        </p:nvSpPr>
        <p:spPr>
          <a:xfrm>
            <a:off x="2103120" y="118872"/>
            <a:ext cx="9144000" cy="320040"/>
          </a:xfrm>
          <a:prstGeom prst="rect">
            <a:avLst/>
          </a:prstGeom>
          <a:noFill/>
        </p:spPr>
        <p:txBody>
          <a:bodyPr wrap="square">
            <a:spAutoFit/>
          </a:bodyPr>
          <a:lstStyle/>
          <a:p>
            <a:pPr algn="l"/>
            <a:r>
              <a:rPr sz="1600" b="1" i="0">
                <a:solidFill>
                  <a:srgbClr val="FFFFFF"/>
                </a:solidFill>
                <a:latin typeface="Calibri"/>
              </a:rPr>
              <a:t>What the completed pipeline looks like</a:t>
            </a:r>
          </a:p>
        </p:txBody>
      </p:sp>
      <p:sp>
        <p:nvSpPr>
          <p:cNvPr id="6" name="TextBox 5"/>
          <p:cNvSpPr txBox="1"/>
          <p:nvPr/>
        </p:nvSpPr>
        <p:spPr>
          <a:xfrm>
            <a:off x="365760" y="868680"/>
            <a:ext cx="5029200" cy="274320"/>
          </a:xfrm>
          <a:prstGeom prst="rect">
            <a:avLst/>
          </a:prstGeom>
          <a:noFill/>
        </p:spPr>
        <p:txBody>
          <a:bodyPr wrap="square">
            <a:spAutoFit/>
          </a:bodyPr>
          <a:lstStyle/>
          <a:p>
            <a:pPr algn="l"/>
            <a:r>
              <a:rPr sz="800" b="1" i="0">
                <a:solidFill>
                  <a:srgbClr val="6D28D9"/>
                </a:solidFill>
                <a:latin typeface="Calibri"/>
              </a:rPr>
              <a:t>THE FOUR TODOS — SOLVED</a:t>
            </a:r>
          </a:p>
        </p:txBody>
      </p:sp>
      <p:sp>
        <p:nvSpPr>
          <p:cNvPr id="7" name="Rectangle 6"/>
          <p:cNvSpPr/>
          <p:nvPr/>
        </p:nvSpPr>
        <p:spPr>
          <a:xfrm>
            <a:off x="365760" y="1124712"/>
            <a:ext cx="1371600" cy="180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188720"/>
            <a:ext cx="384048" cy="384048"/>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225296"/>
            <a:ext cx="384048" cy="292608"/>
          </a:xfrm>
          <a:prstGeom prst="rect">
            <a:avLst/>
          </a:prstGeom>
          <a:noFill/>
        </p:spPr>
        <p:txBody>
          <a:bodyPr wrap="square">
            <a:spAutoFit/>
          </a:bodyPr>
          <a:lstStyle/>
          <a:p>
            <a:pPr algn="ctr"/>
            <a:r>
              <a:rPr sz="800" b="1" i="0">
                <a:solidFill>
                  <a:srgbClr val="FFFFFF"/>
                </a:solidFill>
                <a:latin typeface="Calibri"/>
              </a:rPr>
              <a:t>T1</a:t>
            </a:r>
          </a:p>
        </p:txBody>
      </p:sp>
      <p:sp>
        <p:nvSpPr>
          <p:cNvPr id="10" name="TextBox 9"/>
          <p:cNvSpPr txBox="1"/>
          <p:nvPr/>
        </p:nvSpPr>
        <p:spPr>
          <a:xfrm>
            <a:off x="841248" y="1188720"/>
            <a:ext cx="5120640" cy="228600"/>
          </a:xfrm>
          <a:prstGeom prst="rect">
            <a:avLst/>
          </a:prstGeom>
          <a:noFill/>
        </p:spPr>
        <p:txBody>
          <a:bodyPr wrap="square">
            <a:spAutoFit/>
          </a:bodyPr>
          <a:lstStyle/>
          <a:p>
            <a:pPr algn="l"/>
            <a:r>
              <a:rPr sz="1100" b="1" i="0">
                <a:solidFill>
                  <a:srgbClr val="0F0F0F"/>
                </a:solidFill>
                <a:latin typeface="Calibri"/>
              </a:rPr>
              <a:t>Join chain</a:t>
            </a:r>
          </a:p>
        </p:txBody>
      </p:sp>
      <p:sp>
        <p:nvSpPr>
          <p:cNvPr id="11" name="Rectangle 10"/>
          <p:cNvSpPr/>
          <p:nvPr/>
        </p:nvSpPr>
        <p:spPr>
          <a:xfrm>
            <a:off x="841248" y="1435608"/>
            <a:ext cx="5120640" cy="502920"/>
          </a:xfrm>
          <a:prstGeom prst="rect">
            <a:avLst/>
          </a:prstGeom>
          <a:solidFill>
            <a:srgbClr val="F3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1435608"/>
            <a:ext cx="54864" cy="5029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0976" y="1527048"/>
            <a:ext cx="4956048" cy="320040"/>
          </a:xfrm>
          <a:prstGeom prst="rect">
            <a:avLst/>
          </a:prstGeom>
          <a:noFill/>
        </p:spPr>
        <p:txBody>
          <a:bodyPr wrap="none">
            <a:spAutoFit/>
          </a:bodyPr>
          <a:lstStyle/>
          <a:p>
            <a:r>
              <a:rPr sz="800">
                <a:solidFill>
                  <a:srgbClr val="1F1F2E"/>
                </a:solidFill>
                <a:latin typeface="Courier New"/>
              </a:rPr>
              <a:t>.join(dim_date, …, "inner")  then filter,</a:t>
            </a:r>
          </a:p>
          <a:p>
            <a:r>
              <a:rPr sz="800">
                <a:solidFill>
                  <a:srgbClr val="1F1F2E"/>
                </a:solidFill>
                <a:latin typeface="Courier New"/>
              </a:rPr>
              <a:t>then .join(dim_customer, …),</a:t>
            </a:r>
          </a:p>
          <a:p>
            <a:r>
              <a:rPr sz="800">
                <a:solidFill>
                  <a:srgbClr val="1F1F2E"/>
                </a:solidFill>
                <a:latin typeface="Courier New"/>
              </a:rPr>
              <a:t>then four "left" joins for the facts</a:t>
            </a:r>
          </a:p>
        </p:txBody>
      </p:sp>
      <p:sp>
        <p:nvSpPr>
          <p:cNvPr id="14" name="Rectangle 13"/>
          <p:cNvSpPr/>
          <p:nvPr/>
        </p:nvSpPr>
        <p:spPr>
          <a:xfrm>
            <a:off x="365760" y="2084832"/>
            <a:ext cx="384048" cy="384048"/>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121408"/>
            <a:ext cx="384048" cy="292608"/>
          </a:xfrm>
          <a:prstGeom prst="rect">
            <a:avLst/>
          </a:prstGeom>
          <a:noFill/>
        </p:spPr>
        <p:txBody>
          <a:bodyPr wrap="square">
            <a:spAutoFit/>
          </a:bodyPr>
          <a:lstStyle/>
          <a:p>
            <a:pPr algn="ctr"/>
            <a:r>
              <a:rPr sz="800" b="1" i="0">
                <a:solidFill>
                  <a:srgbClr val="FFFFFF"/>
                </a:solidFill>
                <a:latin typeface="Calibri"/>
              </a:rPr>
              <a:t>T2</a:t>
            </a:r>
          </a:p>
        </p:txBody>
      </p:sp>
      <p:sp>
        <p:nvSpPr>
          <p:cNvPr id="16" name="TextBox 15"/>
          <p:cNvSpPr txBox="1"/>
          <p:nvPr/>
        </p:nvSpPr>
        <p:spPr>
          <a:xfrm>
            <a:off x="841248" y="2084832"/>
            <a:ext cx="5120640" cy="228600"/>
          </a:xfrm>
          <a:prstGeom prst="rect">
            <a:avLst/>
          </a:prstGeom>
          <a:noFill/>
        </p:spPr>
        <p:txBody>
          <a:bodyPr wrap="square">
            <a:spAutoFit/>
          </a:bodyPr>
          <a:lstStyle/>
          <a:p>
            <a:pPr algn="l"/>
            <a:r>
              <a:rPr sz="1100" b="1" i="0">
                <a:solidFill>
                  <a:srgbClr val="0F0F0F"/>
                </a:solidFill>
                <a:latin typeface="Calibri"/>
              </a:rPr>
              <a:t>COALESCE amounts</a:t>
            </a:r>
          </a:p>
        </p:txBody>
      </p:sp>
      <p:sp>
        <p:nvSpPr>
          <p:cNvPr id="17" name="Rectangle 16"/>
          <p:cNvSpPr/>
          <p:nvPr/>
        </p:nvSpPr>
        <p:spPr>
          <a:xfrm>
            <a:off x="841248" y="2331720"/>
            <a:ext cx="5120640" cy="502920"/>
          </a:xfrm>
          <a:prstGeom prst="rect">
            <a:avLst/>
          </a:prstGeom>
          <a:solidFill>
            <a:srgbClr val="F3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2331720"/>
            <a:ext cx="54864" cy="5029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2423160"/>
            <a:ext cx="4956048" cy="320040"/>
          </a:xfrm>
          <a:prstGeom prst="rect">
            <a:avLst/>
          </a:prstGeom>
          <a:noFill/>
        </p:spPr>
        <p:txBody>
          <a:bodyPr wrap="none">
            <a:spAutoFit/>
          </a:bodyPr>
          <a:lstStyle/>
          <a:p>
            <a:r>
              <a:rPr sz="800">
                <a:solidFill>
                  <a:srgbClr val="1F1F2E"/>
                </a:solidFill>
                <a:latin typeface="Courier New"/>
              </a:rPr>
              <a:t>F.coalesce(F.col("AMT_Travel"), F.lit(0))</a:t>
            </a:r>
          </a:p>
          <a:p>
            <a:r>
              <a:rPr sz="800">
                <a:solidFill>
                  <a:srgbClr val="1F1F2E"/>
                </a:solidFill>
                <a:latin typeface="Courier New"/>
              </a:rPr>
              <a:t>— applied after joins, before aggregation</a:t>
            </a:r>
          </a:p>
        </p:txBody>
      </p:sp>
      <p:sp>
        <p:nvSpPr>
          <p:cNvPr id="20" name="Rectangle 19"/>
          <p:cNvSpPr/>
          <p:nvPr/>
        </p:nvSpPr>
        <p:spPr>
          <a:xfrm>
            <a:off x="365760" y="2980944"/>
            <a:ext cx="384048" cy="384048"/>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017520"/>
            <a:ext cx="384048" cy="292608"/>
          </a:xfrm>
          <a:prstGeom prst="rect">
            <a:avLst/>
          </a:prstGeom>
          <a:noFill/>
        </p:spPr>
        <p:txBody>
          <a:bodyPr wrap="square">
            <a:spAutoFit/>
          </a:bodyPr>
          <a:lstStyle/>
          <a:p>
            <a:pPr algn="ctr"/>
            <a:r>
              <a:rPr sz="800" b="1" i="0">
                <a:solidFill>
                  <a:srgbClr val="FFFFFF"/>
                </a:solidFill>
                <a:latin typeface="Calibri"/>
              </a:rPr>
              <a:t>T3</a:t>
            </a:r>
          </a:p>
        </p:txBody>
      </p:sp>
      <p:sp>
        <p:nvSpPr>
          <p:cNvPr id="22" name="TextBox 21"/>
          <p:cNvSpPr txBox="1"/>
          <p:nvPr/>
        </p:nvSpPr>
        <p:spPr>
          <a:xfrm>
            <a:off x="841248" y="2980944"/>
            <a:ext cx="5120640" cy="228600"/>
          </a:xfrm>
          <a:prstGeom prst="rect">
            <a:avLst/>
          </a:prstGeom>
          <a:noFill/>
        </p:spPr>
        <p:txBody>
          <a:bodyPr wrap="square">
            <a:spAutoFit/>
          </a:bodyPr>
          <a:lstStyle/>
          <a:p>
            <a:pPr algn="l"/>
            <a:r>
              <a:rPr sz="1100" b="1" i="0">
                <a:solidFill>
                  <a:srgbClr val="0F0F0F"/>
                </a:solidFill>
                <a:latin typeface="Calibri"/>
              </a:rPr>
              <a:t>Aggregate</a:t>
            </a:r>
          </a:p>
        </p:txBody>
      </p:sp>
      <p:sp>
        <p:nvSpPr>
          <p:cNvPr id="23" name="Rectangle 22"/>
          <p:cNvSpPr/>
          <p:nvPr/>
        </p:nvSpPr>
        <p:spPr>
          <a:xfrm>
            <a:off x="841248" y="3227832"/>
            <a:ext cx="5120640" cy="502920"/>
          </a:xfrm>
          <a:prstGeom prst="rect">
            <a:avLst/>
          </a:prstGeom>
          <a:solidFill>
            <a:srgbClr val="F3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1248" y="3227832"/>
            <a:ext cx="54864" cy="5029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 y="3319272"/>
            <a:ext cx="4956048" cy="320040"/>
          </a:xfrm>
          <a:prstGeom prst="rect">
            <a:avLst/>
          </a:prstGeom>
          <a:noFill/>
        </p:spPr>
        <p:txBody>
          <a:bodyPr wrap="none">
            <a:spAutoFit/>
          </a:bodyPr>
          <a:lstStyle/>
          <a:p>
            <a:r>
              <a:rPr sz="800">
                <a:solidFill>
                  <a:srgbClr val="1F1F2E"/>
                </a:solidFill>
                <a:latin typeface="Courier New"/>
              </a:rPr>
              <a:t>.groupBy(date, agency, country, class, cust_type)</a:t>
            </a:r>
          </a:p>
          <a:p>
            <a:r>
              <a:rPr sz="800">
                <a:solidFill>
                  <a:srgbClr val="1F1F2E"/>
                </a:solidFill>
                <a:latin typeface="Courier New"/>
              </a:rPr>
              <a:t>.agg(F.countDistinct(…), F.round(F.sum(…), 2), …)</a:t>
            </a:r>
          </a:p>
        </p:txBody>
      </p:sp>
      <p:sp>
        <p:nvSpPr>
          <p:cNvPr id="26" name="Rectangle 25"/>
          <p:cNvSpPr/>
          <p:nvPr/>
        </p:nvSpPr>
        <p:spPr>
          <a:xfrm>
            <a:off x="365760" y="3877056"/>
            <a:ext cx="384048" cy="384048"/>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3913632"/>
            <a:ext cx="384048" cy="292608"/>
          </a:xfrm>
          <a:prstGeom prst="rect">
            <a:avLst/>
          </a:prstGeom>
          <a:noFill/>
        </p:spPr>
        <p:txBody>
          <a:bodyPr wrap="square">
            <a:spAutoFit/>
          </a:bodyPr>
          <a:lstStyle/>
          <a:p>
            <a:pPr algn="ctr"/>
            <a:r>
              <a:rPr sz="800" b="1" i="0">
                <a:solidFill>
                  <a:srgbClr val="FFFFFF"/>
                </a:solidFill>
                <a:latin typeface="Calibri"/>
              </a:rPr>
              <a:t>T4</a:t>
            </a:r>
          </a:p>
        </p:txBody>
      </p:sp>
      <p:sp>
        <p:nvSpPr>
          <p:cNvPr id="28" name="TextBox 27"/>
          <p:cNvSpPr txBox="1"/>
          <p:nvPr/>
        </p:nvSpPr>
        <p:spPr>
          <a:xfrm>
            <a:off x="841248" y="3877056"/>
            <a:ext cx="5120640" cy="228600"/>
          </a:xfrm>
          <a:prstGeom prst="rect">
            <a:avLst/>
          </a:prstGeom>
          <a:noFill/>
        </p:spPr>
        <p:txBody>
          <a:bodyPr wrap="square">
            <a:spAutoFit/>
          </a:bodyPr>
          <a:lstStyle/>
          <a:p>
            <a:pPr algn="l"/>
            <a:r>
              <a:rPr sz="1100" b="1" i="0">
                <a:solidFill>
                  <a:srgbClr val="0F0F0F"/>
                </a:solidFill>
                <a:latin typeface="Calibri"/>
              </a:rPr>
              <a:t>Revenue tier</a:t>
            </a:r>
          </a:p>
        </p:txBody>
      </p:sp>
      <p:sp>
        <p:nvSpPr>
          <p:cNvPr id="29" name="Rectangle 28"/>
          <p:cNvSpPr/>
          <p:nvPr/>
        </p:nvSpPr>
        <p:spPr>
          <a:xfrm>
            <a:off x="841248" y="4123944"/>
            <a:ext cx="5120640" cy="502920"/>
          </a:xfrm>
          <a:prstGeom prst="rect">
            <a:avLst/>
          </a:prstGeom>
          <a:solidFill>
            <a:srgbClr val="F3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41248" y="4123944"/>
            <a:ext cx="54864" cy="5029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0976" y="4215384"/>
            <a:ext cx="4956048" cy="320040"/>
          </a:xfrm>
          <a:prstGeom prst="rect">
            <a:avLst/>
          </a:prstGeom>
          <a:noFill/>
        </p:spPr>
        <p:txBody>
          <a:bodyPr wrap="none">
            <a:spAutoFit/>
          </a:bodyPr>
          <a:lstStyle/>
          <a:p>
            <a:r>
              <a:rPr sz="800">
                <a:solidFill>
                  <a:srgbClr val="1F1F2E"/>
                </a:solidFill>
                <a:latin typeface="Courier New"/>
              </a:rPr>
              <a:t>F.when(col &gt;= 2000, "High")</a:t>
            </a:r>
          </a:p>
          <a:p>
            <a:r>
              <a:rPr sz="800">
                <a:solidFill>
                  <a:srgbClr val="1F1F2E"/>
                </a:solidFill>
                <a:latin typeface="Courier New"/>
              </a:rPr>
              <a:t> .when(col &gt;= 500,  "Medium")</a:t>
            </a:r>
          </a:p>
          <a:p>
            <a:r>
              <a:rPr sz="800">
                <a:solidFill>
                  <a:srgbClr val="1F1F2E"/>
                </a:solidFill>
                <a:latin typeface="Courier New"/>
              </a:rPr>
              <a:t> .otherwise("Low")</a:t>
            </a:r>
          </a:p>
        </p:txBody>
      </p:sp>
      <p:sp>
        <p:nvSpPr>
          <p:cNvPr id="32" name="TextBox 31"/>
          <p:cNvSpPr txBox="1"/>
          <p:nvPr/>
        </p:nvSpPr>
        <p:spPr>
          <a:xfrm>
            <a:off x="6217920" y="868680"/>
            <a:ext cx="5029200" cy="274320"/>
          </a:xfrm>
          <a:prstGeom prst="rect">
            <a:avLst/>
          </a:prstGeom>
          <a:noFill/>
        </p:spPr>
        <p:txBody>
          <a:bodyPr wrap="square">
            <a:spAutoFit/>
          </a:bodyPr>
          <a:lstStyle/>
          <a:p>
            <a:pPr algn="l"/>
            <a:r>
              <a:rPr sz="800" b="1" i="0">
                <a:solidFill>
                  <a:srgbClr val="6D28D9"/>
                </a:solidFill>
                <a:latin typeface="Calibri"/>
              </a:rPr>
              <a:t>DATAFRAME API VS SQL — THE KEY DIFFERENCE</a:t>
            </a:r>
          </a:p>
        </p:txBody>
      </p:sp>
      <p:sp>
        <p:nvSpPr>
          <p:cNvPr id="33" name="Rectangle 32"/>
          <p:cNvSpPr/>
          <p:nvPr/>
        </p:nvSpPr>
        <p:spPr>
          <a:xfrm>
            <a:off x="6217920" y="1124712"/>
            <a:ext cx="1371600" cy="180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0" y="1170432"/>
            <a:ext cx="5669280" cy="274320"/>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2784" y="1207008"/>
            <a:ext cx="1344168" cy="228600"/>
          </a:xfrm>
          <a:prstGeom prst="rect">
            <a:avLst/>
          </a:prstGeom>
          <a:noFill/>
        </p:spPr>
        <p:txBody>
          <a:bodyPr wrap="square">
            <a:spAutoFit/>
          </a:bodyPr>
          <a:lstStyle/>
          <a:p>
            <a:pPr algn="l"/>
            <a:r>
              <a:rPr sz="850" b="1" i="0">
                <a:solidFill>
                  <a:srgbClr val="FFFFFF"/>
                </a:solidFill>
                <a:latin typeface="Calibri"/>
              </a:rPr>
              <a:t/>
            </a:r>
          </a:p>
        </p:txBody>
      </p:sp>
      <p:sp>
        <p:nvSpPr>
          <p:cNvPr id="36" name="TextBox 35"/>
          <p:cNvSpPr txBox="1"/>
          <p:nvPr/>
        </p:nvSpPr>
        <p:spPr>
          <a:xfrm>
            <a:off x="7690104" y="1207008"/>
            <a:ext cx="1847088" cy="228600"/>
          </a:xfrm>
          <a:prstGeom prst="rect">
            <a:avLst/>
          </a:prstGeom>
          <a:noFill/>
        </p:spPr>
        <p:txBody>
          <a:bodyPr wrap="square">
            <a:spAutoFit/>
          </a:bodyPr>
          <a:lstStyle/>
          <a:p>
            <a:pPr algn="l"/>
            <a:r>
              <a:rPr sz="850" b="1" i="0">
                <a:solidFill>
                  <a:srgbClr val="FFFFFF"/>
                </a:solidFill>
                <a:latin typeface="Calibri"/>
              </a:rPr>
              <a:t>SQL</a:t>
            </a:r>
          </a:p>
        </p:txBody>
      </p:sp>
      <p:sp>
        <p:nvSpPr>
          <p:cNvPr id="37" name="TextBox 36"/>
          <p:cNvSpPr txBox="1"/>
          <p:nvPr/>
        </p:nvSpPr>
        <p:spPr>
          <a:xfrm>
            <a:off x="9610344" y="1207008"/>
            <a:ext cx="2258568" cy="228600"/>
          </a:xfrm>
          <a:prstGeom prst="rect">
            <a:avLst/>
          </a:prstGeom>
          <a:noFill/>
        </p:spPr>
        <p:txBody>
          <a:bodyPr wrap="square">
            <a:spAutoFit/>
          </a:bodyPr>
          <a:lstStyle/>
          <a:p>
            <a:pPr algn="l"/>
            <a:r>
              <a:rPr sz="850" b="1" i="0">
                <a:solidFill>
                  <a:srgbClr val="FFFFFF"/>
                </a:solidFill>
                <a:latin typeface="Calibri"/>
              </a:rPr>
              <a:t>DataFrame API</a:t>
            </a:r>
          </a:p>
        </p:txBody>
      </p:sp>
      <p:sp>
        <p:nvSpPr>
          <p:cNvPr id="38" name="Rectangle 37"/>
          <p:cNvSpPr/>
          <p:nvPr/>
        </p:nvSpPr>
        <p:spPr>
          <a:xfrm>
            <a:off x="6217920" y="1444752"/>
            <a:ext cx="566928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72784" y="1481328"/>
            <a:ext cx="1344168" cy="228600"/>
          </a:xfrm>
          <a:prstGeom prst="rect">
            <a:avLst/>
          </a:prstGeom>
          <a:noFill/>
        </p:spPr>
        <p:txBody>
          <a:bodyPr wrap="square">
            <a:spAutoFit/>
          </a:bodyPr>
          <a:lstStyle/>
          <a:p>
            <a:pPr algn="l"/>
            <a:r>
              <a:rPr sz="850" b="0" i="0">
                <a:solidFill>
                  <a:srgbClr val="0F0F0F"/>
                </a:solidFill>
                <a:latin typeface="Calibri"/>
              </a:rPr>
              <a:t>Multi-step logic</a:t>
            </a:r>
          </a:p>
        </p:txBody>
      </p:sp>
      <p:sp>
        <p:nvSpPr>
          <p:cNvPr id="40" name="TextBox 39"/>
          <p:cNvSpPr txBox="1"/>
          <p:nvPr/>
        </p:nvSpPr>
        <p:spPr>
          <a:xfrm>
            <a:off x="7690104" y="1481328"/>
            <a:ext cx="1847088" cy="228600"/>
          </a:xfrm>
          <a:prstGeom prst="rect">
            <a:avLst/>
          </a:prstGeom>
          <a:noFill/>
        </p:spPr>
        <p:txBody>
          <a:bodyPr wrap="square">
            <a:spAutoFit/>
          </a:bodyPr>
          <a:lstStyle/>
          <a:p>
            <a:pPr algn="l"/>
            <a:r>
              <a:rPr sz="850" b="0" i="0">
                <a:solidFill>
                  <a:srgbClr val="0F0F0F"/>
                </a:solidFill>
                <a:latin typeface="Calibri"/>
              </a:rPr>
              <a:t>CTEs in one string</a:t>
            </a:r>
          </a:p>
        </p:txBody>
      </p:sp>
      <p:sp>
        <p:nvSpPr>
          <p:cNvPr id="41" name="TextBox 40"/>
          <p:cNvSpPr txBox="1"/>
          <p:nvPr/>
        </p:nvSpPr>
        <p:spPr>
          <a:xfrm>
            <a:off x="9610344" y="1481328"/>
            <a:ext cx="2258568" cy="228600"/>
          </a:xfrm>
          <a:prstGeom prst="rect">
            <a:avLst/>
          </a:prstGeom>
          <a:noFill/>
        </p:spPr>
        <p:txBody>
          <a:bodyPr wrap="square">
            <a:spAutoFit/>
          </a:bodyPr>
          <a:lstStyle/>
          <a:p>
            <a:pPr algn="l"/>
            <a:r>
              <a:rPr sz="850" b="0" i="0">
                <a:solidFill>
                  <a:srgbClr val="0F0F0F"/>
                </a:solidFill>
                <a:latin typeface="Calibri"/>
              </a:rPr>
              <a:t>Named variables — inspect any step</a:t>
            </a:r>
          </a:p>
        </p:txBody>
      </p:sp>
      <p:sp>
        <p:nvSpPr>
          <p:cNvPr id="42" name="Rectangle 41"/>
          <p:cNvSpPr/>
          <p:nvPr/>
        </p:nvSpPr>
        <p:spPr>
          <a:xfrm>
            <a:off x="6217920" y="1719072"/>
            <a:ext cx="5669280" cy="274320"/>
          </a:xfrm>
          <a:prstGeom prst="rect">
            <a:avLst/>
          </a:prstGeom>
          <a:solidFill>
            <a:srgbClr val="F3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72784" y="1755648"/>
            <a:ext cx="1344168" cy="228600"/>
          </a:xfrm>
          <a:prstGeom prst="rect">
            <a:avLst/>
          </a:prstGeom>
          <a:noFill/>
        </p:spPr>
        <p:txBody>
          <a:bodyPr wrap="square">
            <a:spAutoFit/>
          </a:bodyPr>
          <a:lstStyle/>
          <a:p>
            <a:pPr algn="l"/>
            <a:r>
              <a:rPr sz="850" b="0" i="0">
                <a:solidFill>
                  <a:srgbClr val="0F0F0F"/>
                </a:solidFill>
                <a:latin typeface="Calibri"/>
              </a:rPr>
              <a:t>Reuse a column</a:t>
            </a:r>
          </a:p>
        </p:txBody>
      </p:sp>
      <p:sp>
        <p:nvSpPr>
          <p:cNvPr id="44" name="TextBox 43"/>
          <p:cNvSpPr txBox="1"/>
          <p:nvPr/>
        </p:nvSpPr>
        <p:spPr>
          <a:xfrm>
            <a:off x="7690104" y="1755648"/>
            <a:ext cx="1847088" cy="228600"/>
          </a:xfrm>
          <a:prstGeom prst="rect">
            <a:avLst/>
          </a:prstGeom>
          <a:noFill/>
        </p:spPr>
        <p:txBody>
          <a:bodyPr wrap="square">
            <a:spAutoFit/>
          </a:bodyPr>
          <a:lstStyle/>
          <a:p>
            <a:pPr algn="l"/>
            <a:r>
              <a:rPr sz="850" b="0" i="0">
                <a:solidFill>
                  <a:srgbClr val="0F0F0F"/>
                </a:solidFill>
                <a:latin typeface="Calibri"/>
              </a:rPr>
              <a:t>Must repeat formula</a:t>
            </a:r>
          </a:p>
        </p:txBody>
      </p:sp>
      <p:sp>
        <p:nvSpPr>
          <p:cNvPr id="45" name="TextBox 44"/>
          <p:cNvSpPr txBox="1"/>
          <p:nvPr/>
        </p:nvSpPr>
        <p:spPr>
          <a:xfrm>
            <a:off x="9610344" y="1755648"/>
            <a:ext cx="2258568" cy="228600"/>
          </a:xfrm>
          <a:prstGeom prst="rect">
            <a:avLst/>
          </a:prstGeom>
          <a:noFill/>
        </p:spPr>
        <p:txBody>
          <a:bodyPr wrap="square">
            <a:spAutoFit/>
          </a:bodyPr>
          <a:lstStyle/>
          <a:p>
            <a:pPr algn="l"/>
            <a:r>
              <a:rPr sz="850" b="0" i="0">
                <a:solidFill>
                  <a:srgbClr val="0F0F0F"/>
                </a:solidFill>
                <a:latin typeface="Calibri"/>
              </a:rPr>
              <a:t>Compute once, reference by name</a:t>
            </a:r>
          </a:p>
        </p:txBody>
      </p:sp>
      <p:sp>
        <p:nvSpPr>
          <p:cNvPr id="46" name="Rectangle 45"/>
          <p:cNvSpPr/>
          <p:nvPr/>
        </p:nvSpPr>
        <p:spPr>
          <a:xfrm>
            <a:off x="6217920" y="1993392"/>
            <a:ext cx="566928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2784" y="2029968"/>
            <a:ext cx="1344168" cy="228600"/>
          </a:xfrm>
          <a:prstGeom prst="rect">
            <a:avLst/>
          </a:prstGeom>
          <a:noFill/>
        </p:spPr>
        <p:txBody>
          <a:bodyPr wrap="square">
            <a:spAutoFit/>
          </a:bodyPr>
          <a:lstStyle/>
          <a:p>
            <a:pPr algn="l"/>
            <a:r>
              <a:rPr sz="850" b="0" i="0">
                <a:solidFill>
                  <a:srgbClr val="0F0F0F"/>
                </a:solidFill>
                <a:latin typeface="Calibri"/>
              </a:rPr>
              <a:t>Debug mid-pipe</a:t>
            </a:r>
          </a:p>
        </p:txBody>
      </p:sp>
      <p:sp>
        <p:nvSpPr>
          <p:cNvPr id="48" name="TextBox 47"/>
          <p:cNvSpPr txBox="1"/>
          <p:nvPr/>
        </p:nvSpPr>
        <p:spPr>
          <a:xfrm>
            <a:off x="7690104" y="2029968"/>
            <a:ext cx="1847088" cy="228600"/>
          </a:xfrm>
          <a:prstGeom prst="rect">
            <a:avLst/>
          </a:prstGeom>
          <a:noFill/>
        </p:spPr>
        <p:txBody>
          <a:bodyPr wrap="square">
            <a:spAutoFit/>
          </a:bodyPr>
          <a:lstStyle/>
          <a:p>
            <a:pPr algn="l"/>
            <a:r>
              <a:rPr sz="850" b="0" i="0">
                <a:solidFill>
                  <a:srgbClr val="0F0F0F"/>
                </a:solidFill>
                <a:latin typeface="Calibri"/>
              </a:rPr>
              <a:t>Rewrite whole query</a:t>
            </a:r>
          </a:p>
        </p:txBody>
      </p:sp>
      <p:sp>
        <p:nvSpPr>
          <p:cNvPr id="49" name="TextBox 48"/>
          <p:cNvSpPr txBox="1"/>
          <p:nvPr/>
        </p:nvSpPr>
        <p:spPr>
          <a:xfrm>
            <a:off x="9610344" y="2029968"/>
            <a:ext cx="2258568" cy="228600"/>
          </a:xfrm>
          <a:prstGeom prst="rect">
            <a:avLst/>
          </a:prstGeom>
          <a:noFill/>
        </p:spPr>
        <p:txBody>
          <a:bodyPr wrap="square">
            <a:spAutoFit/>
          </a:bodyPr>
          <a:lstStyle/>
          <a:p>
            <a:pPr algn="l"/>
            <a:r>
              <a:rPr sz="850" b="0" i="0">
                <a:solidFill>
                  <a:srgbClr val="0F0F0F"/>
                </a:solidFill>
                <a:latin typeface="Calibri"/>
              </a:rPr>
              <a:t>display(step) anywhere</a:t>
            </a:r>
          </a:p>
        </p:txBody>
      </p:sp>
      <p:sp>
        <p:nvSpPr>
          <p:cNvPr id="50" name="Rectangle 49"/>
          <p:cNvSpPr/>
          <p:nvPr/>
        </p:nvSpPr>
        <p:spPr>
          <a:xfrm>
            <a:off x="6217920" y="2267712"/>
            <a:ext cx="5669280" cy="274320"/>
          </a:xfrm>
          <a:prstGeom prst="rect">
            <a:avLst/>
          </a:prstGeom>
          <a:solidFill>
            <a:srgbClr val="F3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72784" y="2304288"/>
            <a:ext cx="1344168" cy="228600"/>
          </a:xfrm>
          <a:prstGeom prst="rect">
            <a:avLst/>
          </a:prstGeom>
          <a:noFill/>
        </p:spPr>
        <p:txBody>
          <a:bodyPr wrap="square">
            <a:spAutoFit/>
          </a:bodyPr>
          <a:lstStyle/>
          <a:p>
            <a:pPr algn="l"/>
            <a:r>
              <a:rPr sz="850" b="0" i="0">
                <a:solidFill>
                  <a:srgbClr val="0F0F0F"/>
                </a:solidFill>
                <a:latin typeface="Calibri"/>
              </a:rPr>
              <a:t>IDE support</a:t>
            </a:r>
          </a:p>
        </p:txBody>
      </p:sp>
      <p:sp>
        <p:nvSpPr>
          <p:cNvPr id="52" name="TextBox 51"/>
          <p:cNvSpPr txBox="1"/>
          <p:nvPr/>
        </p:nvSpPr>
        <p:spPr>
          <a:xfrm>
            <a:off x="7690104" y="2304288"/>
            <a:ext cx="1847088" cy="228600"/>
          </a:xfrm>
          <a:prstGeom prst="rect">
            <a:avLst/>
          </a:prstGeom>
          <a:noFill/>
        </p:spPr>
        <p:txBody>
          <a:bodyPr wrap="square">
            <a:spAutoFit/>
          </a:bodyPr>
          <a:lstStyle/>
          <a:p>
            <a:pPr algn="l"/>
            <a:r>
              <a:rPr sz="850" b="0" i="0">
                <a:solidFill>
                  <a:srgbClr val="0F0F0F"/>
                </a:solidFill>
                <a:latin typeface="Calibri"/>
              </a:rPr>
              <a:t>Plain string</a:t>
            </a:r>
          </a:p>
        </p:txBody>
      </p:sp>
      <p:sp>
        <p:nvSpPr>
          <p:cNvPr id="53" name="TextBox 52"/>
          <p:cNvSpPr txBox="1"/>
          <p:nvPr/>
        </p:nvSpPr>
        <p:spPr>
          <a:xfrm>
            <a:off x="9610344" y="2304288"/>
            <a:ext cx="2258568" cy="228600"/>
          </a:xfrm>
          <a:prstGeom prst="rect">
            <a:avLst/>
          </a:prstGeom>
          <a:noFill/>
        </p:spPr>
        <p:txBody>
          <a:bodyPr wrap="square">
            <a:spAutoFit/>
          </a:bodyPr>
          <a:lstStyle/>
          <a:p>
            <a:pPr algn="l"/>
            <a:r>
              <a:rPr sz="850" b="0" i="0">
                <a:solidFill>
                  <a:srgbClr val="0F0F0F"/>
                </a:solidFill>
                <a:latin typeface="Calibri"/>
              </a:rPr>
              <a:t>Autocomplete + type hints</a:t>
            </a:r>
          </a:p>
        </p:txBody>
      </p:sp>
      <p:sp>
        <p:nvSpPr>
          <p:cNvPr id="54" name="TextBox 53"/>
          <p:cNvSpPr txBox="1"/>
          <p:nvPr/>
        </p:nvSpPr>
        <p:spPr>
          <a:xfrm>
            <a:off x="6217920" y="3063240"/>
            <a:ext cx="5029200" cy="274320"/>
          </a:xfrm>
          <a:prstGeom prst="rect">
            <a:avLst/>
          </a:prstGeom>
          <a:noFill/>
        </p:spPr>
        <p:txBody>
          <a:bodyPr wrap="square">
            <a:spAutoFit/>
          </a:bodyPr>
          <a:lstStyle/>
          <a:p>
            <a:pPr algn="l"/>
            <a:r>
              <a:rPr sz="800" b="1" i="0">
                <a:solidFill>
                  <a:srgbClr val="6D28D9"/>
                </a:solidFill>
                <a:latin typeface="Calibri"/>
              </a:rPr>
              <a:t>MLFLOW — WHY EVERY RUN GETS LOGGED</a:t>
            </a:r>
          </a:p>
        </p:txBody>
      </p:sp>
      <p:sp>
        <p:nvSpPr>
          <p:cNvPr id="55" name="Rectangle 54"/>
          <p:cNvSpPr/>
          <p:nvPr/>
        </p:nvSpPr>
        <p:spPr>
          <a:xfrm>
            <a:off x="6217920" y="3319272"/>
            <a:ext cx="1371600" cy="180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217920" y="3355848"/>
            <a:ext cx="5852160" cy="1234440"/>
          </a:xfrm>
          <a:prstGeom prst="rect">
            <a:avLst/>
          </a:prstGeom>
          <a:solidFill>
            <a:srgbClr val="F3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217920" y="3355848"/>
            <a:ext cx="54864" cy="12344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27648" y="3447288"/>
            <a:ext cx="5687568" cy="1051560"/>
          </a:xfrm>
          <a:prstGeom prst="rect">
            <a:avLst/>
          </a:prstGeom>
          <a:noFill/>
        </p:spPr>
        <p:txBody>
          <a:bodyPr wrap="none">
            <a:spAutoFit/>
          </a:bodyPr>
          <a:lstStyle/>
          <a:p>
            <a:r>
              <a:rPr sz="850">
                <a:solidFill>
                  <a:srgbClr val="1F1F2E"/>
                </a:solidFill>
                <a:latin typeface="Courier New"/>
              </a:rPr>
              <a:t># Find gaps in the daily pipeline</a:t>
            </a:r>
          </a:p>
          <a:p>
            <a:r>
              <a:rPr sz="850">
                <a:solidFill>
                  <a:srgbClr val="1F1F2E"/>
                </a:solidFill>
                <a:latin typeface="Courier New"/>
              </a:rPr>
              <a:t>runs = mlflow.search_runs(</a:t>
            </a:r>
          </a:p>
          <a:p>
            <a:r>
              <a:rPr sz="850">
                <a:solidFill>
                  <a:srgbClr val="1F1F2E"/>
                </a:solidFill>
                <a:latin typeface="Courier New"/>
              </a:rPr>
              <a:t>    filter_string="tags.job = 'DailyBookingRevenueJob'"</a:t>
            </a:r>
          </a:p>
          <a:p>
            <a:r>
              <a:rPr sz="850">
                <a:solidFill>
                  <a:srgbClr val="1F1F2E"/>
                </a:solidFill>
                <a:latin typeface="Courier New"/>
              </a:rPr>
              <a:t>)</a:t>
            </a:r>
          </a:p>
          <a:p>
            <a:r>
              <a:rPr sz="850">
                <a:solidFill>
                  <a:srgbClr val="1F1F2E"/>
                </a:solidFill>
                <a:latin typeface="Courier New"/>
              </a:rPr>
              <a:t>failed = runs[runs["status"] != "FINISHED"]</a:t>
            </a:r>
          </a:p>
          <a:p>
            <a:r>
              <a:rPr sz="850">
                <a:solidFill>
                  <a:srgbClr val="1F1F2E"/>
                </a:solidFill>
                <a:latin typeface="Courier New"/>
              </a:rPr>
              <a:t># → reruns only the missing dates</a:t>
            </a:r>
          </a:p>
        </p:txBody>
      </p:sp>
      <p:sp>
        <p:nvSpPr>
          <p:cNvPr id="59" name="TextBox 58"/>
          <p:cNvSpPr txBox="1"/>
          <p:nvPr/>
        </p:nvSpPr>
        <p:spPr>
          <a:xfrm>
            <a:off x="6217920" y="4663440"/>
            <a:ext cx="5852160" cy="457200"/>
          </a:xfrm>
          <a:prstGeom prst="rect">
            <a:avLst/>
          </a:prstGeom>
          <a:noFill/>
        </p:spPr>
        <p:txBody>
          <a:bodyPr wrap="square">
            <a:spAutoFit/>
          </a:bodyPr>
          <a:lstStyle/>
          <a:p>
            <a:pPr algn="l"/>
            <a:r>
              <a:rPr sz="900" b="0" i="0">
                <a:solidFill>
                  <a:srgbClr val="6B7280"/>
                </a:solidFill>
                <a:latin typeface="Calibri"/>
              </a:rPr>
              <a:t>Log every run — even failures.  Query the gaps.  Backfill with one loop.
This is the operational backbone of any reliable daily pipeline.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